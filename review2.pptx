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90" r:id="rId7"/>
    <p:sldId id="262" r:id="rId8"/>
    <p:sldId id="263" r:id="rId9"/>
    <p:sldId id="264" r:id="rId10"/>
    <p:sldId id="265" r:id="rId11"/>
    <p:sldId id="266" r:id="rId12"/>
    <p:sldId id="267" r:id="rId13"/>
    <p:sldId id="269" r:id="rId14"/>
    <p:sldId id="270" r:id="rId15"/>
    <p:sldId id="271" r:id="rId16"/>
    <p:sldId id="273" r:id="rId17"/>
    <p:sldId id="274" r:id="rId18"/>
    <p:sldId id="279" r:id="rId19"/>
    <p:sldId id="280" r:id="rId20"/>
    <p:sldId id="281" r:id="rId21"/>
    <p:sldId id="283" r:id="rId22"/>
    <p:sldId id="284" r:id="rId23"/>
    <p:sldId id="285" r:id="rId24"/>
    <p:sldId id="286" r:id="rId25"/>
    <p:sldId id="287" r:id="rId26"/>
    <p:sldId id="288" r:id="rId27"/>
    <p:sldId id="275" r:id="rId28"/>
    <p:sldId id="276" r:id="rId29"/>
    <p:sldId id="277" r:id="rId30"/>
    <p:sldId id="278" r:id="rId3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6" roundtripDataSignature="AMtx7mifyUVXimakngECS385XEKTi5X+Z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2CEE6D4-2B6A-4D06-95CB-14536EB14E5D}">
  <a:tblStyle styleId="{12CEE6D4-2B6A-4D06-95CB-14536EB14E5D}"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974" autoAdjust="0"/>
  </p:normalViewPr>
  <p:slideViewPr>
    <p:cSldViewPr snapToGrid="0">
      <p:cViewPr varScale="1">
        <p:scale>
          <a:sx n="75" d="100"/>
          <a:sy n="75" d="100"/>
        </p:scale>
        <p:origin x="94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 name="Google Shape;10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 name="Google Shape;11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 name="Google Shape;12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86cf6a2822_0_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7" name="Google Shape;137;g386cf6a2822_0_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6" name="Google Shape;14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65" name="Google Shape;16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6" name="Google Shape;17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958a9180db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g3958a9180db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5" name="Google Shape;185;g3958a9180db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IN"/>
              <a:t>12</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86cf6a2822_0_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386cf6a2822_0_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86cf6a2822_0_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g386cf6a2822_0_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86cf6a2822_0_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4" name="Google Shape;214;g386cf6a2822_0_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386cf6a2822_0_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8" name="Google Shape;228;g386cf6a2822_0_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86cf6a2822_0_6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5" name="Google Shape;235;g386cf6a2822_0_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Arial"/>
                <a:ea typeface="Arial"/>
                <a:cs typeface="Arial"/>
                <a:sym typeface="Arial"/>
              </a:rPr>
              <a:t>20</a:t>
            </a:fld>
            <a:endParaRPr lang="en-IN"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6950098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4C12F-2E5E-555E-3681-E6A49ED865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3BD72F-D67E-1EB5-B6A4-EC268067A6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C30F18-AFE2-B302-1316-1D292C6C7E0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3EB979E-7845-D56E-7BE2-6718E50160FD}"/>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Arial"/>
                <a:ea typeface="Arial"/>
                <a:cs typeface="Arial"/>
                <a:sym typeface="Arial"/>
              </a:rPr>
              <a:t>21</a:t>
            </a:fld>
            <a:endParaRPr lang="en-IN"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6640467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5BCCB-85A3-5734-D1E8-2B734972AE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244E17-27A0-383A-CA20-698E2764C6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6ED064-166C-AB8C-9F99-2E626F7AEEE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8B51626-12F3-4856-B07C-70F9B6913212}"/>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Arial"/>
                <a:ea typeface="Arial"/>
                <a:cs typeface="Arial"/>
                <a:sym typeface="Arial"/>
              </a:rPr>
              <a:t>22</a:t>
            </a:fld>
            <a:endParaRPr lang="en-IN"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7920633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92058-0740-9430-1C1C-93EE2601E8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C477E4-6B29-8DB1-D36C-20D81721B4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1FF54A-A6F4-6C69-9F18-D50F9685752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6BDA6EE-0F01-0A9C-64C1-034A9C6BF3BB}"/>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Arial"/>
                <a:ea typeface="Arial"/>
                <a:cs typeface="Arial"/>
                <a:sym typeface="Arial"/>
              </a:rPr>
              <a:t>23</a:t>
            </a:fld>
            <a:endParaRPr lang="en-IN"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074395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76C03-1A26-E6D7-9812-20DC141476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DEC88F-D235-82C0-7F38-3146EE9882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5AB0C4-B449-EBD7-5AEE-4AE9D2CA339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AAEB0CD-B517-C250-7677-6CDAFC6BEC49}"/>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Arial"/>
                <a:ea typeface="Arial"/>
                <a:cs typeface="Arial"/>
                <a:sym typeface="Arial"/>
              </a:rPr>
              <a:t>24</a:t>
            </a:fld>
            <a:endParaRPr lang="en-IN"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646318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909B4-A7D0-DF3D-2244-0EF8C2A1FA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35127E-8A63-ED06-7AA6-C84D9727DD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5DA544-70C6-73CF-8833-0F0B1F59D74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4545280-BFD2-5515-DF65-2296F78F0453}"/>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Arial"/>
                <a:ea typeface="Arial"/>
                <a:cs typeface="Arial"/>
                <a:sym typeface="Arial"/>
              </a:rPr>
              <a:t>25</a:t>
            </a:fld>
            <a:endParaRPr lang="en-IN"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498240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2D2F9-2C73-15D5-99A9-548DEC05D8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BB51B5-CD1A-AAD7-70D8-3DEB73F2C8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A1C3C2-9785-B187-2076-BD83E8283F5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0E2A422-6B1D-509A-4F9F-6B6A32866145}"/>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Arial"/>
                <a:ea typeface="Arial"/>
                <a:cs typeface="Arial"/>
                <a:sym typeface="Arial"/>
              </a:rPr>
              <a:t>26</a:t>
            </a:fld>
            <a:endParaRPr lang="en-IN"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5729691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 name="Google Shape;24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0" name="Google Shape;25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8" name="Google Shape;25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6" name="Google Shape;266;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1"/>
        <p:cNvGrpSpPr/>
        <p:nvPr/>
      </p:nvGrpSpPr>
      <p:grpSpPr>
        <a:xfrm>
          <a:off x="0" y="0"/>
          <a:ext cx="0" cy="0"/>
          <a:chOff x="0" y="0"/>
          <a:chExt cx="0" cy="0"/>
        </a:xfrm>
      </p:grpSpPr>
      <p:sp>
        <p:nvSpPr>
          <p:cNvPr id="22" name="Google Shape;22;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sp>
        <p:nvSpPr>
          <p:cNvPr id="29" name="Google Shape;29;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4"/>
        <p:cNvGrpSpPr/>
        <p:nvPr/>
      </p:nvGrpSpPr>
      <p:grpSpPr>
        <a:xfrm>
          <a:off x="0" y="0"/>
          <a:ext cx="0" cy="0"/>
          <a:chOff x="0" y="0"/>
          <a:chExt cx="0" cy="0"/>
        </a:xfrm>
      </p:grpSpPr>
      <p:sp>
        <p:nvSpPr>
          <p:cNvPr id="35" name="Google Shape;35;p1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7" name="Google Shape;37;p1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1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3"/>
        <p:cNvGrpSpPr/>
        <p:nvPr/>
      </p:nvGrpSpPr>
      <p:grpSpPr>
        <a:xfrm>
          <a:off x="0" y="0"/>
          <a:ext cx="0" cy="0"/>
          <a:chOff x="0" y="0"/>
          <a:chExt cx="0" cy="0"/>
        </a:xfrm>
      </p:grpSpPr>
      <p:sp>
        <p:nvSpPr>
          <p:cNvPr id="44" name="Google Shape;44;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7"/>
        <p:cNvGrpSpPr/>
        <p:nvPr/>
      </p:nvGrpSpPr>
      <p:grpSpPr>
        <a:xfrm>
          <a:off x="0" y="0"/>
          <a:ext cx="0" cy="0"/>
          <a:chOff x="0" y="0"/>
          <a:chExt cx="0" cy="0"/>
        </a:xfrm>
      </p:grpSpPr>
      <p:sp>
        <p:nvSpPr>
          <p:cNvPr id="48" name="Google Shape;48;p1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50" name="Google Shape;50;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4"/>
          <p:cNvSpPr>
            <a:spLocks noGrp="1"/>
          </p:cNvSpPr>
          <p:nvPr>
            <p:ph type="pic" idx="2"/>
          </p:nvPr>
        </p:nvSpPr>
        <p:spPr>
          <a:xfrm>
            <a:off x="5183188" y="987425"/>
            <a:ext cx="6172200" cy="4873625"/>
          </a:xfrm>
          <a:prstGeom prst="rect">
            <a:avLst/>
          </a:prstGeom>
          <a:noFill/>
          <a:ln>
            <a:noFill/>
          </a:ln>
        </p:spPr>
      </p:sp>
      <p:sp>
        <p:nvSpPr>
          <p:cNvPr id="68" name="Google Shape;68;p2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6"/>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5.jp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8" Type="http://schemas.openxmlformats.org/officeDocument/2006/relationships/hyperlink" Target="https://arxiv.org/abs/1908.07999" TargetMode="External"/><Relationship Id="rId3" Type="http://schemas.openxmlformats.org/officeDocument/2006/relationships/hyperlink" Target="https://arxiv.org/abs/1406.1078" TargetMode="External"/><Relationship Id="rId7" Type="http://schemas.openxmlformats.org/officeDocument/2006/relationships/hyperlink" Target="https://aclanthology.org/P18-1183/" TargetMode="External"/><Relationship Id="rId12" Type="http://schemas.openxmlformats.org/officeDocument/2006/relationships/hyperlink" Target="https://doi.org/10.31449/inf.v49i33.8079" TargetMode="External"/><Relationship Id="rId2" Type="http://schemas.openxmlformats.org/officeDocument/2006/relationships/notesSlide" Target="../notesSlides/notesSlide26.xml"/><Relationship Id="rId1" Type="http://schemas.openxmlformats.org/officeDocument/2006/relationships/slideLayout" Target="../slideLayouts/slideLayout3.xml"/><Relationship Id="rId6" Type="http://schemas.openxmlformats.org/officeDocument/2006/relationships/hyperlink" Target="https://arxiv.org/abs/1706.03762" TargetMode="External"/><Relationship Id="rId11" Type="http://schemas.openxmlformats.org/officeDocument/2006/relationships/hyperlink" Target="https://aclanthology.org/2022.ccl-1.86/" TargetMode="External"/><Relationship Id="rId5" Type="http://schemas.openxmlformats.org/officeDocument/2006/relationships/hyperlink" Target="https://www.bioinf.jku.at/publications/older/2604.pdf" TargetMode="External"/><Relationship Id="rId10" Type="http://schemas.openxmlformats.org/officeDocument/2006/relationships/hyperlink" Target="https://pytorch.org/" TargetMode="External"/><Relationship Id="rId4" Type="http://schemas.openxmlformats.org/officeDocument/2006/relationships/hyperlink" Target="https://arxiv.org/abs/1810.04805" TargetMode="External"/><Relationship Id="rId9" Type="http://schemas.openxmlformats.org/officeDocument/2006/relationships/hyperlink" Target="https://scikit-learn.org/stable/about.html#citing-scikit-learn" TargetMode="Externa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575368" y="2517058"/>
            <a:ext cx="10658167" cy="104221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Calibri"/>
              <a:buNone/>
            </a:pPr>
            <a:r>
              <a:rPr lang="en-IN" sz="2400" b="1" u="sng" dirty="0">
                <a:solidFill>
                  <a:schemeClr val="dk1"/>
                </a:solidFill>
                <a:latin typeface="Times New Roman"/>
                <a:ea typeface="Times New Roman"/>
                <a:cs typeface="Times New Roman"/>
                <a:sym typeface="Times New Roman"/>
              </a:rPr>
              <a:t>HYBRID INFORMATION MIXING MODULE FOR STOCK MOVEMENT PREDICTION</a:t>
            </a:r>
            <a:endParaRPr sz="2400" b="1" u="sng" dirty="0">
              <a:solidFill>
                <a:schemeClr val="dk1"/>
              </a:solidFill>
              <a:latin typeface="Times New Roman"/>
              <a:ea typeface="Times New Roman"/>
              <a:cs typeface="Times New Roman"/>
              <a:sym typeface="Times New Roman"/>
            </a:endParaRPr>
          </a:p>
        </p:txBody>
      </p:sp>
      <p:sp>
        <p:nvSpPr>
          <p:cNvPr id="89" name="Google Shape;89;p1"/>
          <p:cNvSpPr txBox="1">
            <a:spLocks noGrp="1"/>
          </p:cNvSpPr>
          <p:nvPr>
            <p:ph type="subTitle" idx="1"/>
          </p:nvPr>
        </p:nvSpPr>
        <p:spPr>
          <a:xfrm>
            <a:off x="7355092" y="3934602"/>
            <a:ext cx="4581900" cy="1858800"/>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262626"/>
              </a:buClr>
              <a:buSzPts val="2000"/>
              <a:buNone/>
            </a:pPr>
            <a:r>
              <a:rPr lang="en-IN" sz="2100" b="1" u="sng" dirty="0">
                <a:solidFill>
                  <a:srgbClr val="262626"/>
                </a:solidFill>
              </a:rPr>
              <a:t>Presented By:- </a:t>
            </a:r>
            <a:endParaRPr sz="2500" b="1" u="sng" dirty="0"/>
          </a:p>
          <a:p>
            <a:pPr marL="0" lvl="0" indent="0" algn="l" rtl="0">
              <a:lnSpc>
                <a:spcPct val="90000"/>
              </a:lnSpc>
              <a:spcBef>
                <a:spcPts val="1000"/>
              </a:spcBef>
              <a:spcAft>
                <a:spcPts val="0"/>
              </a:spcAft>
              <a:buClr>
                <a:srgbClr val="262626"/>
              </a:buClr>
              <a:buSzPts val="2000"/>
              <a:buNone/>
            </a:pPr>
            <a:r>
              <a:rPr lang="en-IN" sz="2100" dirty="0">
                <a:solidFill>
                  <a:srgbClr val="262626"/>
                </a:solidFill>
              </a:rPr>
              <a:t>S Amrutha, </a:t>
            </a:r>
            <a:r>
              <a:rPr lang="en-IN" sz="2100" b="1" dirty="0">
                <a:solidFill>
                  <a:srgbClr val="262626"/>
                </a:solidFill>
              </a:rPr>
              <a:t>23B81A05K7</a:t>
            </a:r>
            <a:endParaRPr sz="2500" b="1" dirty="0"/>
          </a:p>
          <a:p>
            <a:pPr marL="0" lvl="0" indent="0" algn="l" rtl="0">
              <a:lnSpc>
                <a:spcPct val="90000"/>
              </a:lnSpc>
              <a:spcBef>
                <a:spcPts val="1000"/>
              </a:spcBef>
              <a:spcAft>
                <a:spcPts val="0"/>
              </a:spcAft>
              <a:buSzPts val="2400"/>
              <a:buNone/>
            </a:pPr>
            <a:r>
              <a:rPr lang="en-IN" sz="2100" dirty="0">
                <a:solidFill>
                  <a:srgbClr val="262626"/>
                </a:solidFill>
              </a:rPr>
              <a:t>K Sri Karan Reddy, </a:t>
            </a:r>
            <a:r>
              <a:rPr lang="en-IN" sz="2100" b="1" dirty="0">
                <a:solidFill>
                  <a:srgbClr val="262626"/>
                </a:solidFill>
              </a:rPr>
              <a:t>23B81A05P9</a:t>
            </a:r>
            <a:endParaRPr sz="2500" b="1" dirty="0"/>
          </a:p>
          <a:p>
            <a:pPr marL="0" lvl="0" indent="0" algn="l" rtl="0">
              <a:lnSpc>
                <a:spcPct val="90000"/>
              </a:lnSpc>
              <a:spcBef>
                <a:spcPts val="1000"/>
              </a:spcBef>
              <a:spcAft>
                <a:spcPts val="0"/>
              </a:spcAft>
              <a:buClr>
                <a:srgbClr val="262626"/>
              </a:buClr>
              <a:buSzPts val="2000"/>
              <a:buNone/>
            </a:pPr>
            <a:r>
              <a:rPr lang="en-IN" sz="2100" dirty="0">
                <a:solidFill>
                  <a:srgbClr val="262626"/>
                </a:solidFill>
              </a:rPr>
              <a:t>N Vishwas ,</a:t>
            </a:r>
            <a:r>
              <a:rPr lang="en-IN" sz="2100" b="1" dirty="0">
                <a:solidFill>
                  <a:srgbClr val="262626"/>
                </a:solidFill>
              </a:rPr>
              <a:t>23B81A05R2</a:t>
            </a:r>
            <a:endParaRPr sz="2500" b="1" dirty="0"/>
          </a:p>
          <a:p>
            <a:pPr marL="0" lvl="0" indent="0" algn="l" rtl="0">
              <a:lnSpc>
                <a:spcPct val="90000"/>
              </a:lnSpc>
              <a:spcBef>
                <a:spcPts val="1000"/>
              </a:spcBef>
              <a:spcAft>
                <a:spcPts val="0"/>
              </a:spcAft>
              <a:buClr>
                <a:srgbClr val="262626"/>
              </a:buClr>
              <a:buSzPts val="2000"/>
              <a:buNone/>
            </a:pPr>
            <a:r>
              <a:rPr lang="en-IN" sz="2100" b="1" dirty="0">
                <a:solidFill>
                  <a:srgbClr val="262626"/>
                </a:solidFill>
              </a:rPr>
              <a:t>				</a:t>
            </a:r>
            <a:endParaRPr sz="2100" dirty="0">
              <a:solidFill>
                <a:srgbClr val="262626"/>
              </a:solidFill>
            </a:endParaRPr>
          </a:p>
        </p:txBody>
      </p:sp>
      <p:sp>
        <p:nvSpPr>
          <p:cNvPr id="90" name="Google Shape;90;p1"/>
          <p:cNvSpPr txBox="1"/>
          <p:nvPr/>
        </p:nvSpPr>
        <p:spPr>
          <a:xfrm>
            <a:off x="2023675" y="289675"/>
            <a:ext cx="9593700" cy="2308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IN" sz="2400" b="1" i="0" u="none" strike="noStrike" cap="none" dirty="0">
                <a:solidFill>
                  <a:schemeClr val="dk1"/>
                </a:solidFill>
                <a:latin typeface="Calibri"/>
                <a:ea typeface="Calibri"/>
                <a:cs typeface="Calibri"/>
                <a:sym typeface="Calibri"/>
              </a:rPr>
              <a:t>CVR COLLEGE OF ENGINEERING</a:t>
            </a:r>
            <a:br>
              <a:rPr lang="en-IN" sz="2400" b="0" i="0" u="none" strike="noStrike" cap="none" dirty="0">
                <a:solidFill>
                  <a:schemeClr val="dk1"/>
                </a:solidFill>
                <a:latin typeface="Calibri"/>
                <a:ea typeface="Calibri"/>
                <a:cs typeface="Calibri"/>
                <a:sym typeface="Calibri"/>
              </a:rPr>
            </a:br>
            <a:r>
              <a:rPr lang="en-IN" sz="2400" b="1" i="0" u="none" strike="noStrike" cap="none" dirty="0">
                <a:solidFill>
                  <a:schemeClr val="dk1"/>
                </a:solidFill>
                <a:latin typeface="Calibri"/>
                <a:ea typeface="Calibri"/>
                <a:cs typeface="Calibri"/>
                <a:sym typeface="Calibri"/>
              </a:rPr>
              <a:t>(An UGC Autonomous Institute, Accredited by NAAC with ‘A’ Grade)</a:t>
            </a:r>
            <a:br>
              <a:rPr lang="en-IN" sz="2400" b="0" i="0" u="none" strike="noStrike" cap="none" dirty="0">
                <a:solidFill>
                  <a:schemeClr val="dk1"/>
                </a:solidFill>
                <a:latin typeface="Calibri"/>
                <a:ea typeface="Calibri"/>
                <a:cs typeface="Calibri"/>
                <a:sym typeface="Calibri"/>
              </a:rPr>
            </a:br>
            <a:r>
              <a:rPr lang="en-IN" sz="2400" b="1" i="0" u="none" strike="noStrike" cap="none" dirty="0">
                <a:solidFill>
                  <a:schemeClr val="dk1"/>
                </a:solidFill>
                <a:latin typeface="Calibri"/>
                <a:ea typeface="Calibri"/>
                <a:cs typeface="Calibri"/>
                <a:sym typeface="Calibri"/>
              </a:rPr>
              <a:t>Department of CSE</a:t>
            </a:r>
            <a:br>
              <a:rPr lang="en-IN" sz="2400" b="1" i="0" u="none" strike="noStrike" cap="none" dirty="0">
                <a:solidFill>
                  <a:schemeClr val="dk1"/>
                </a:solidFill>
                <a:latin typeface="Calibri"/>
                <a:ea typeface="Calibri"/>
                <a:cs typeface="Calibri"/>
                <a:sym typeface="Calibri"/>
              </a:rPr>
            </a:br>
            <a:r>
              <a:rPr lang="en-IN" sz="2400" b="1" i="0" u="none" strike="noStrike" cap="none" dirty="0">
                <a:solidFill>
                  <a:schemeClr val="dk1"/>
                </a:solidFill>
                <a:latin typeface="Calibri"/>
                <a:ea typeface="Calibri"/>
                <a:cs typeface="Calibri"/>
                <a:sym typeface="Calibri"/>
              </a:rPr>
              <a:t>B. Tech CSE-D III Year II Semester</a:t>
            </a:r>
            <a:endParaRPr sz="1400" b="0" i="0" u="none" strike="noStrike" cap="none" dirty="0">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400"/>
              <a:buFont typeface="Arial"/>
              <a:buNone/>
            </a:pPr>
            <a:r>
              <a:rPr lang="en-IN" sz="2400" b="1" i="0" u="none" strike="noStrike" cap="none" dirty="0">
                <a:solidFill>
                  <a:schemeClr val="dk1"/>
                </a:solidFill>
                <a:latin typeface="Calibri"/>
                <a:ea typeface="Calibri"/>
                <a:cs typeface="Calibri"/>
                <a:sym typeface="Calibri"/>
              </a:rPr>
              <a:t>Industrial Oriented Mini Project</a:t>
            </a:r>
            <a:endParaRPr sz="2400" b="1"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dk1"/>
              </a:solidFill>
              <a:latin typeface="Times New Roman"/>
              <a:ea typeface="Times New Roman"/>
              <a:cs typeface="Times New Roman"/>
              <a:sym typeface="Times New Roman"/>
            </a:endParaRPr>
          </a:p>
        </p:txBody>
      </p:sp>
      <p:pic>
        <p:nvPicPr>
          <p:cNvPr id="91" name="Google Shape;91;p1"/>
          <p:cNvPicPr preferRelativeResize="0"/>
          <p:nvPr/>
        </p:nvPicPr>
        <p:blipFill rotWithShape="1">
          <a:blip r:embed="rId3">
            <a:alphaModFix/>
          </a:blip>
          <a:srcRect/>
          <a:stretch/>
        </p:blipFill>
        <p:spPr>
          <a:xfrm>
            <a:off x="470793" y="387886"/>
            <a:ext cx="1461393" cy="1531931"/>
          </a:xfrm>
          <a:prstGeom prst="rect">
            <a:avLst/>
          </a:prstGeom>
          <a:noFill/>
          <a:ln>
            <a:noFill/>
          </a:ln>
        </p:spPr>
      </p:pic>
      <p:sp>
        <p:nvSpPr>
          <p:cNvPr id="92" name="Google Shape;92;p1"/>
          <p:cNvSpPr txBox="1"/>
          <p:nvPr/>
        </p:nvSpPr>
        <p:spPr>
          <a:xfrm>
            <a:off x="837725" y="3934600"/>
            <a:ext cx="5533200" cy="11387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IN" sz="2200" b="1" i="0" u="sng" strike="noStrike" cap="none" dirty="0">
                <a:solidFill>
                  <a:schemeClr val="dk1"/>
                </a:solidFill>
                <a:latin typeface="Calibri"/>
                <a:ea typeface="Calibri"/>
                <a:cs typeface="Calibri"/>
                <a:sym typeface="Calibri"/>
              </a:rPr>
              <a:t>PROJECT SUPERVISOR</a:t>
            </a:r>
            <a:r>
              <a:rPr lang="en-IN" sz="2200" b="1" i="0" u="none" strike="noStrike" cap="none" dirty="0">
                <a:solidFill>
                  <a:schemeClr val="dk1"/>
                </a:solidFill>
                <a:latin typeface="Calibri"/>
                <a:ea typeface="Calibri"/>
                <a:cs typeface="Calibri"/>
                <a:sym typeface="Calibri"/>
              </a:rPr>
              <a:t>:  </a:t>
            </a:r>
            <a:endParaRPr dirty="0"/>
          </a:p>
          <a:p>
            <a:pPr>
              <a:buSzPts val="2000"/>
            </a:pPr>
            <a:r>
              <a:rPr lang="en-IN" sz="2200" b="1" dirty="0" err="1">
                <a:solidFill>
                  <a:schemeClr val="dk1"/>
                </a:solidFill>
                <a:latin typeface="Calibri"/>
                <a:ea typeface="Calibri"/>
                <a:cs typeface="Calibri"/>
                <a:sym typeface="Calibri"/>
              </a:rPr>
              <a:t>Mr.N.Srinu,</a:t>
            </a:r>
            <a:r>
              <a:rPr lang="en-IN" sz="2400" b="1" dirty="0" err="1">
                <a:latin typeface="Times New Roman"/>
                <a:cs typeface="Times New Roman"/>
              </a:rPr>
              <a:t>Associative</a:t>
            </a:r>
            <a:r>
              <a:rPr lang="en-IN" sz="2400" b="1" dirty="0">
                <a:latin typeface="Times New Roman"/>
                <a:cs typeface="Times New Roman"/>
              </a:rPr>
              <a:t> </a:t>
            </a:r>
            <a:r>
              <a:rPr lang="en-IN" sz="2400" b="1" dirty="0" err="1">
                <a:latin typeface="Times New Roman"/>
                <a:cs typeface="Times New Roman"/>
              </a:rPr>
              <a:t>Proffesor</a:t>
            </a:r>
            <a:r>
              <a:rPr lang="en-IN" sz="2400" dirty="0">
                <a:latin typeface="Times New Roman"/>
                <a:cs typeface="Times New Roman"/>
              </a:rPr>
              <a:t>,</a:t>
            </a:r>
            <a:endParaRPr lang="en-IN" sz="2200" b="1" dirty="0">
              <a:solidFill>
                <a:schemeClr val="dk1"/>
              </a:solidFill>
              <a:latin typeface="Calibri"/>
              <a:ea typeface="Calibri"/>
              <a:cs typeface="Calibri"/>
              <a:sym typeface="Calibri"/>
            </a:endParaRPr>
          </a:p>
          <a:p>
            <a:pPr lvl="0">
              <a:buSzPts val="2000"/>
            </a:pPr>
            <a:r>
              <a:rPr lang="en-IN" sz="2200" b="1" dirty="0">
                <a:solidFill>
                  <a:schemeClr val="dk1"/>
                </a:solidFill>
                <a:latin typeface="Calibri"/>
                <a:ea typeface="Calibri"/>
                <a:cs typeface="Calibri"/>
                <a:sym typeface="Calibri"/>
              </a:rPr>
              <a:t>CSE Department </a:t>
            </a:r>
            <a:endParaRPr lang="en-IN" sz="2000" b="1" dirty="0">
              <a:solidFill>
                <a:schemeClr val="dk1"/>
              </a:solidFill>
              <a:latin typeface="Calibri"/>
              <a:ea typeface="Calibri"/>
              <a:cs typeface="Calibri"/>
              <a:sym typeface="Calibri"/>
            </a:endParaRPr>
          </a:p>
        </p:txBody>
      </p:sp>
      <p:sp>
        <p:nvSpPr>
          <p:cNvPr id="3" name="Footer Placeholder 1">
            <a:extLst>
              <a:ext uri="{FF2B5EF4-FFF2-40B4-BE49-F238E27FC236}">
                <a16:creationId xmlns:a16="http://schemas.microsoft.com/office/drawing/2014/main" id="{0ABD2CD2-C4A9-B362-9E22-872D3151435A}"/>
              </a:ext>
            </a:extLst>
          </p:cNvPr>
          <p:cNvSpPr>
            <a:spLocks noGrp="1"/>
          </p:cNvSpPr>
          <p:nvPr/>
        </p:nvSpPr>
        <p:spPr>
          <a:xfrm>
            <a:off x="2750731" y="6024972"/>
            <a:ext cx="6690538" cy="770701"/>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III </a:t>
            </a:r>
            <a:r>
              <a:rPr lang="en-US" dirty="0" err="1"/>
              <a:t>B.Tech</a:t>
            </a:r>
            <a:r>
              <a:rPr lang="en-US" dirty="0"/>
              <a:t> (CSE-D) Industrial Oriented Mini Project (IOMP) Presentation Review-2,</a:t>
            </a:r>
          </a:p>
          <a:p>
            <a:r>
              <a:rPr lang="en-US" dirty="0"/>
              <a:t> CSE Dept, CVR college of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0"/>
          <p:cNvSpPr txBox="1">
            <a:spLocks noGrp="1"/>
          </p:cNvSpPr>
          <p:nvPr>
            <p:ph type="body" idx="1"/>
          </p:nvPr>
        </p:nvSpPr>
        <p:spPr>
          <a:xfrm>
            <a:off x="301250" y="993100"/>
            <a:ext cx="5257800" cy="5771400"/>
          </a:xfrm>
          <a:prstGeom prst="rect">
            <a:avLst/>
          </a:prstGeom>
          <a:noFill/>
          <a:ln>
            <a:noFill/>
          </a:ln>
        </p:spPr>
        <p:txBody>
          <a:bodyPr spcFirstLastPara="1" wrap="square" lIns="91425" tIns="45700" rIns="91425" bIns="45700" anchor="t" anchorCtr="0">
            <a:noAutofit/>
          </a:bodyPr>
          <a:lstStyle/>
          <a:p>
            <a:pPr marL="342900" lvl="0" indent="-355600" algn="l" rtl="0">
              <a:lnSpc>
                <a:spcPct val="115000"/>
              </a:lnSpc>
              <a:spcBef>
                <a:spcPts val="0"/>
              </a:spcBef>
              <a:spcAft>
                <a:spcPts val="0"/>
              </a:spcAft>
              <a:buSzPts val="2000"/>
              <a:buFont typeface="Calibri"/>
              <a:buAutoNum type="arabicPeriod"/>
            </a:pPr>
            <a:r>
              <a:rPr lang="en-IN" sz="2000" dirty="0"/>
              <a:t>Abstract</a:t>
            </a:r>
            <a:endParaRPr sz="2000" dirty="0"/>
          </a:p>
          <a:p>
            <a:pPr marL="342900" lvl="0" indent="-355600" algn="l" rtl="0">
              <a:lnSpc>
                <a:spcPct val="115000"/>
              </a:lnSpc>
              <a:spcBef>
                <a:spcPts val="1000"/>
              </a:spcBef>
              <a:spcAft>
                <a:spcPts val="0"/>
              </a:spcAft>
              <a:buSzPts val="2000"/>
              <a:buFont typeface="Calibri"/>
              <a:buAutoNum type="arabicPeriod"/>
            </a:pPr>
            <a:r>
              <a:rPr lang="en-IN" sz="2000" dirty="0"/>
              <a:t>Introduction</a:t>
            </a:r>
            <a:endParaRPr sz="2000" dirty="0">
              <a:solidFill>
                <a:srgbClr val="3F3F3F"/>
              </a:solidFill>
            </a:endParaRPr>
          </a:p>
          <a:p>
            <a:pPr marL="342900" lvl="0" indent="-355600" algn="l" rtl="0">
              <a:lnSpc>
                <a:spcPct val="115000"/>
              </a:lnSpc>
              <a:spcBef>
                <a:spcPts val="1000"/>
              </a:spcBef>
              <a:spcAft>
                <a:spcPts val="0"/>
              </a:spcAft>
              <a:buSzPts val="2000"/>
              <a:buFont typeface="Calibri"/>
              <a:buAutoNum type="arabicPeriod"/>
            </a:pPr>
            <a:r>
              <a:rPr lang="en-IN" sz="2000" dirty="0"/>
              <a:t>Problem Statement</a:t>
            </a:r>
            <a:endParaRPr sz="2000" dirty="0"/>
          </a:p>
          <a:p>
            <a:pPr marL="342900" lvl="0" indent="-355600" algn="l" rtl="0">
              <a:lnSpc>
                <a:spcPct val="115000"/>
              </a:lnSpc>
              <a:spcBef>
                <a:spcPts val="1000"/>
              </a:spcBef>
              <a:spcAft>
                <a:spcPts val="0"/>
              </a:spcAft>
              <a:buSzPts val="2000"/>
              <a:buFont typeface="Calibri"/>
              <a:buAutoNum type="arabicPeriod"/>
            </a:pPr>
            <a:r>
              <a:rPr lang="en-IN" sz="2000" dirty="0"/>
              <a:t>Literature Review and Objective</a:t>
            </a:r>
            <a:endParaRPr sz="2000" dirty="0"/>
          </a:p>
          <a:p>
            <a:pPr marL="342900" lvl="0" indent="-355600" algn="l" rtl="0">
              <a:lnSpc>
                <a:spcPct val="115000"/>
              </a:lnSpc>
              <a:spcBef>
                <a:spcPts val="1000"/>
              </a:spcBef>
              <a:spcAft>
                <a:spcPts val="0"/>
              </a:spcAft>
              <a:buSzPts val="2000"/>
              <a:buFont typeface="Calibri"/>
              <a:buAutoNum type="arabicPeriod"/>
            </a:pPr>
            <a:r>
              <a:rPr lang="en-IN" sz="2000" dirty="0"/>
              <a:t>Objectives</a:t>
            </a:r>
            <a:endParaRPr sz="2000" dirty="0">
              <a:solidFill>
                <a:srgbClr val="3F3F3F"/>
              </a:solidFill>
            </a:endParaRPr>
          </a:p>
          <a:p>
            <a:pPr marL="342900" lvl="0" indent="-355600" algn="l" rtl="0">
              <a:lnSpc>
                <a:spcPct val="115000"/>
              </a:lnSpc>
              <a:spcBef>
                <a:spcPts val="1000"/>
              </a:spcBef>
              <a:spcAft>
                <a:spcPts val="0"/>
              </a:spcAft>
              <a:buSzPts val="2000"/>
              <a:buFont typeface="Calibri"/>
              <a:buAutoNum type="arabicPeriod"/>
            </a:pPr>
            <a:r>
              <a:rPr lang="en-IN" sz="2000" dirty="0"/>
              <a:t>Existing Systems</a:t>
            </a:r>
            <a:endParaRPr sz="2000" dirty="0"/>
          </a:p>
          <a:p>
            <a:pPr marL="342900" lvl="0" indent="-355600" algn="l" rtl="0">
              <a:lnSpc>
                <a:spcPct val="115000"/>
              </a:lnSpc>
              <a:spcBef>
                <a:spcPts val="1000"/>
              </a:spcBef>
              <a:spcAft>
                <a:spcPts val="0"/>
              </a:spcAft>
              <a:buSzPts val="2000"/>
              <a:buFont typeface="Calibri"/>
              <a:buAutoNum type="arabicPeriod"/>
            </a:pPr>
            <a:r>
              <a:rPr lang="en-IN" sz="2000" dirty="0"/>
              <a:t>Functional and Non-Functional Requirements</a:t>
            </a:r>
            <a:endParaRPr sz="2000" dirty="0"/>
          </a:p>
          <a:p>
            <a:pPr marL="342900" lvl="0" indent="-355600" algn="l" rtl="0">
              <a:lnSpc>
                <a:spcPct val="115000"/>
              </a:lnSpc>
              <a:spcBef>
                <a:spcPts val="1000"/>
              </a:spcBef>
              <a:spcAft>
                <a:spcPts val="0"/>
              </a:spcAft>
              <a:buSzPts val="2000"/>
              <a:buFont typeface="Calibri"/>
              <a:buAutoNum type="arabicPeriod"/>
            </a:pPr>
            <a:r>
              <a:rPr lang="en-IN" sz="2000" dirty="0"/>
              <a:t>Hardware and Software Requirements</a:t>
            </a:r>
            <a:endParaRPr sz="2000" dirty="0"/>
          </a:p>
          <a:p>
            <a:pPr marL="342900" lvl="0" indent="-355600" algn="l" rtl="0">
              <a:lnSpc>
                <a:spcPct val="115000"/>
              </a:lnSpc>
              <a:spcBef>
                <a:spcPts val="1000"/>
              </a:spcBef>
              <a:spcAft>
                <a:spcPts val="0"/>
              </a:spcAft>
              <a:buSzPts val="2000"/>
              <a:buFont typeface="Calibri"/>
              <a:buAutoNum type="arabicPeriod"/>
            </a:pPr>
            <a:r>
              <a:rPr lang="en-IN" sz="2000" dirty="0"/>
              <a:t>Proposed Methodology</a:t>
            </a:r>
            <a:endParaRPr sz="2000" dirty="0"/>
          </a:p>
          <a:p>
            <a:pPr marL="342900" lvl="0" indent="-355600" algn="l" rtl="0">
              <a:lnSpc>
                <a:spcPct val="115000"/>
              </a:lnSpc>
              <a:spcBef>
                <a:spcPts val="1000"/>
              </a:spcBef>
              <a:spcAft>
                <a:spcPts val="0"/>
              </a:spcAft>
              <a:buSzPts val="2000"/>
              <a:buFont typeface="Calibri"/>
              <a:buAutoNum type="arabicPeriod"/>
            </a:pPr>
            <a:r>
              <a:rPr lang="en-IN" sz="2000" dirty="0"/>
              <a:t>System Architecture </a:t>
            </a:r>
            <a:endParaRPr sz="2000" dirty="0"/>
          </a:p>
        </p:txBody>
      </p:sp>
      <p:sp>
        <p:nvSpPr>
          <p:cNvPr id="98" name="Google Shape;98;p10"/>
          <p:cNvSpPr txBox="1">
            <a:spLocks noGrp="1"/>
          </p:cNvSpPr>
          <p:nvPr>
            <p:ph type="body" idx="2"/>
          </p:nvPr>
        </p:nvSpPr>
        <p:spPr>
          <a:xfrm>
            <a:off x="6101085" y="433170"/>
            <a:ext cx="4761900" cy="55095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000"/>
              </a:spcBef>
              <a:spcAft>
                <a:spcPts val="0"/>
              </a:spcAft>
              <a:buSzPts val="2000"/>
              <a:buNone/>
            </a:pPr>
            <a:endParaRPr sz="2000" dirty="0"/>
          </a:p>
          <a:p>
            <a:pPr marL="457200" lvl="0" indent="-495300" algn="l" rtl="0">
              <a:lnSpc>
                <a:spcPct val="115000"/>
              </a:lnSpc>
              <a:spcBef>
                <a:spcPts val="1000"/>
              </a:spcBef>
              <a:spcAft>
                <a:spcPts val="0"/>
              </a:spcAft>
              <a:buSzPts val="2000"/>
              <a:buFont typeface="Calibri"/>
              <a:buAutoNum type="arabicPeriod" startAt="11"/>
            </a:pPr>
            <a:r>
              <a:rPr lang="en-IN" sz="2000" dirty="0"/>
              <a:t>Use Case Diagram</a:t>
            </a:r>
            <a:endParaRPr sz="2000" dirty="0">
              <a:solidFill>
                <a:srgbClr val="3F3F3F"/>
              </a:solidFill>
            </a:endParaRPr>
          </a:p>
          <a:p>
            <a:pPr marL="457200" lvl="0" indent="-495300" algn="l" rtl="0">
              <a:lnSpc>
                <a:spcPct val="115000"/>
              </a:lnSpc>
              <a:spcBef>
                <a:spcPts val="1000"/>
              </a:spcBef>
              <a:spcAft>
                <a:spcPts val="0"/>
              </a:spcAft>
              <a:buSzPts val="2000"/>
              <a:buFont typeface="Calibri"/>
              <a:buAutoNum type="arabicPeriod" startAt="11"/>
            </a:pPr>
            <a:r>
              <a:rPr lang="en-IN" sz="2000" dirty="0"/>
              <a:t>Class Diagram</a:t>
            </a:r>
            <a:endParaRPr sz="2000" dirty="0"/>
          </a:p>
          <a:p>
            <a:pPr marL="457200" lvl="0" indent="-495300" algn="l" rtl="0">
              <a:lnSpc>
                <a:spcPct val="115000"/>
              </a:lnSpc>
              <a:spcBef>
                <a:spcPts val="1000"/>
              </a:spcBef>
              <a:spcAft>
                <a:spcPts val="0"/>
              </a:spcAft>
              <a:buSzPts val="2000"/>
              <a:buFont typeface="Calibri"/>
              <a:buAutoNum type="arabicPeriod" startAt="11"/>
            </a:pPr>
            <a:r>
              <a:rPr lang="en-IN" sz="2000" dirty="0"/>
              <a:t>Sequence Diagram </a:t>
            </a:r>
            <a:endParaRPr sz="2000" dirty="0"/>
          </a:p>
          <a:p>
            <a:pPr marL="457200" lvl="0" indent="-495300" algn="l" rtl="0">
              <a:lnSpc>
                <a:spcPct val="115000"/>
              </a:lnSpc>
              <a:spcBef>
                <a:spcPts val="1000"/>
              </a:spcBef>
              <a:spcAft>
                <a:spcPts val="0"/>
              </a:spcAft>
              <a:buSzPts val="2000"/>
              <a:buFont typeface="Calibri"/>
              <a:buAutoNum type="arabicPeriod" startAt="11"/>
            </a:pPr>
            <a:r>
              <a:rPr lang="en-IN" sz="2000" dirty="0"/>
              <a:t>Activity Diagram</a:t>
            </a:r>
            <a:endParaRPr sz="2000" dirty="0">
              <a:solidFill>
                <a:srgbClr val="3F3F3F"/>
              </a:solidFill>
            </a:endParaRPr>
          </a:p>
          <a:p>
            <a:pPr marL="457200" lvl="0" indent="-495300" algn="l" rtl="0">
              <a:lnSpc>
                <a:spcPct val="115000"/>
              </a:lnSpc>
              <a:spcBef>
                <a:spcPts val="1000"/>
              </a:spcBef>
              <a:spcAft>
                <a:spcPts val="0"/>
              </a:spcAft>
              <a:buSzPts val="2000"/>
              <a:buFont typeface="Calibri"/>
              <a:buAutoNum type="arabicPeriod" startAt="11"/>
            </a:pPr>
            <a:r>
              <a:rPr lang="en-IN" sz="2000" dirty="0"/>
              <a:t>Deployment Diagram</a:t>
            </a:r>
            <a:endParaRPr sz="2000" dirty="0">
              <a:solidFill>
                <a:srgbClr val="3F3F3F"/>
              </a:solidFill>
            </a:endParaRPr>
          </a:p>
          <a:p>
            <a:pPr marL="457200" lvl="0" indent="-495300" algn="l" rtl="0">
              <a:lnSpc>
                <a:spcPct val="115000"/>
              </a:lnSpc>
              <a:spcBef>
                <a:spcPts val="1000"/>
              </a:spcBef>
              <a:spcAft>
                <a:spcPts val="0"/>
              </a:spcAft>
              <a:buSzPts val="2000"/>
              <a:buFont typeface="Arial"/>
              <a:buAutoNum type="arabicPeriod" startAt="11"/>
            </a:pPr>
            <a:r>
              <a:rPr lang="en-IN" sz="2000" dirty="0"/>
              <a:t>Conclusion</a:t>
            </a:r>
            <a:endParaRPr sz="2000" dirty="0"/>
          </a:p>
          <a:p>
            <a:pPr marL="457200" lvl="0" indent="-495300" algn="l" rtl="0">
              <a:lnSpc>
                <a:spcPct val="115000"/>
              </a:lnSpc>
              <a:spcBef>
                <a:spcPts val="1000"/>
              </a:spcBef>
              <a:spcAft>
                <a:spcPts val="0"/>
              </a:spcAft>
              <a:buSzPts val="2000"/>
              <a:buFont typeface="Calibri"/>
              <a:buAutoNum type="arabicPeriod" startAt="11"/>
            </a:pPr>
            <a:r>
              <a:rPr lang="en-IN" sz="2000" dirty="0"/>
              <a:t>Future Scope</a:t>
            </a:r>
            <a:endParaRPr sz="2000" dirty="0"/>
          </a:p>
          <a:p>
            <a:pPr marL="457200" lvl="0" indent="-495300" algn="l" rtl="0">
              <a:lnSpc>
                <a:spcPct val="115000"/>
              </a:lnSpc>
              <a:spcBef>
                <a:spcPts val="1000"/>
              </a:spcBef>
              <a:spcAft>
                <a:spcPts val="0"/>
              </a:spcAft>
              <a:buSzPts val="2000"/>
              <a:buFont typeface="Calibri"/>
              <a:buAutoNum type="arabicPeriod" startAt="11"/>
            </a:pPr>
            <a:r>
              <a:rPr lang="en-IN" sz="2000" dirty="0"/>
              <a:t>References</a:t>
            </a:r>
            <a:endParaRPr sz="2000" dirty="0"/>
          </a:p>
        </p:txBody>
      </p:sp>
      <p:pic>
        <p:nvPicPr>
          <p:cNvPr id="99" name="Google Shape;99;p10"/>
          <p:cNvPicPr preferRelativeResize="0"/>
          <p:nvPr/>
        </p:nvPicPr>
        <p:blipFill rotWithShape="1">
          <a:blip r:embed="rId3">
            <a:alphaModFix/>
          </a:blip>
          <a:srcRect/>
          <a:stretch/>
        </p:blipFill>
        <p:spPr>
          <a:xfrm>
            <a:off x="10862985" y="77481"/>
            <a:ext cx="1329012" cy="1052683"/>
          </a:xfrm>
          <a:prstGeom prst="rect">
            <a:avLst/>
          </a:prstGeom>
          <a:noFill/>
          <a:ln>
            <a:noFill/>
          </a:ln>
        </p:spPr>
      </p:pic>
      <p:sp>
        <p:nvSpPr>
          <p:cNvPr id="100" name="Google Shape;100;p10"/>
          <p:cNvSpPr txBox="1">
            <a:spLocks noGrp="1"/>
          </p:cNvSpPr>
          <p:nvPr>
            <p:ph type="title"/>
          </p:nvPr>
        </p:nvSpPr>
        <p:spPr>
          <a:xfrm>
            <a:off x="301250" y="338625"/>
            <a:ext cx="10510500" cy="530400"/>
          </a:xfrm>
          <a:prstGeom prst="rect">
            <a:avLst/>
          </a:prstGeom>
          <a:solidFill>
            <a:srgbClr val="C9DAF8"/>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2800"/>
              <a:buFont typeface="Times New Roman"/>
              <a:buNone/>
            </a:pPr>
            <a:r>
              <a:rPr lang="en-IN" sz="3200" b="1">
                <a:solidFill>
                  <a:schemeClr val="dk1"/>
                </a:solidFill>
              </a:rPr>
              <a:t>Contents</a:t>
            </a:r>
            <a:endParaRPr sz="3600" b="1">
              <a:solidFill>
                <a:schemeClr val="dk1"/>
              </a:solidFill>
            </a:endParaRPr>
          </a:p>
        </p:txBody>
      </p:sp>
      <p:sp>
        <p:nvSpPr>
          <p:cNvPr id="3" name="Footer Placeholder 1">
            <a:extLst>
              <a:ext uri="{FF2B5EF4-FFF2-40B4-BE49-F238E27FC236}">
                <a16:creationId xmlns:a16="http://schemas.microsoft.com/office/drawing/2014/main" id="{7F1472F4-1F6F-99C6-9351-F8A00E6060B3}"/>
              </a:ext>
            </a:extLst>
          </p:cNvPr>
          <p:cNvSpPr>
            <a:spLocks noGrp="1"/>
          </p:cNvSpPr>
          <p:nvPr/>
        </p:nvSpPr>
        <p:spPr>
          <a:xfrm>
            <a:off x="2750731" y="6024972"/>
            <a:ext cx="6690538" cy="770701"/>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III </a:t>
            </a:r>
            <a:r>
              <a:rPr lang="en-US" dirty="0" err="1"/>
              <a:t>B.Tech</a:t>
            </a:r>
            <a:r>
              <a:rPr lang="en-US" dirty="0"/>
              <a:t> (CSE-D) Industrial Oriented Mini Project (IOMP) Presentation Review-2,</a:t>
            </a:r>
          </a:p>
          <a:p>
            <a:r>
              <a:rPr lang="en-US" dirty="0"/>
              <a:t> CSE Dept, CVR college of Engineering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
          <p:cNvSpPr txBox="1">
            <a:spLocks noGrp="1"/>
          </p:cNvSpPr>
          <p:nvPr>
            <p:ph type="title"/>
          </p:nvPr>
        </p:nvSpPr>
        <p:spPr>
          <a:xfrm>
            <a:off x="301250" y="338625"/>
            <a:ext cx="11052600" cy="530400"/>
          </a:xfrm>
          <a:prstGeom prst="rect">
            <a:avLst/>
          </a:prstGeom>
          <a:solidFill>
            <a:srgbClr val="C9DAF8"/>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2800"/>
              <a:buFont typeface="Times New Roman"/>
              <a:buNone/>
            </a:pPr>
            <a:r>
              <a:rPr lang="en-IN" sz="3600" b="1"/>
              <a:t>Abstract</a:t>
            </a:r>
            <a:endParaRPr sz="3600" b="1">
              <a:solidFill>
                <a:schemeClr val="dk1"/>
              </a:solidFill>
            </a:endParaRPr>
          </a:p>
        </p:txBody>
      </p:sp>
      <p:cxnSp>
        <p:nvCxnSpPr>
          <p:cNvPr id="106" name="Google Shape;106;p2"/>
          <p:cNvCxnSpPr/>
          <p:nvPr/>
        </p:nvCxnSpPr>
        <p:spPr>
          <a:xfrm rot="10800000" flipH="1">
            <a:off x="301250" y="833029"/>
            <a:ext cx="11052600" cy="36000"/>
          </a:xfrm>
          <a:prstGeom prst="straightConnector1">
            <a:avLst/>
          </a:prstGeom>
          <a:noFill/>
          <a:ln w="28575" cap="flat" cmpd="sng">
            <a:solidFill>
              <a:srgbClr val="222A35"/>
            </a:solidFill>
            <a:prstDash val="solid"/>
            <a:miter lim="800000"/>
            <a:headEnd type="none" w="sm" len="sm"/>
            <a:tailEnd type="none" w="sm" len="sm"/>
          </a:ln>
        </p:spPr>
      </p:cxnSp>
      <p:sp>
        <p:nvSpPr>
          <p:cNvPr id="107" name="Google Shape;107;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en-IN" sz="1600" b="1"/>
              <a:t>3</a:t>
            </a:fld>
            <a:endParaRPr sz="1600" b="1"/>
          </a:p>
        </p:txBody>
      </p:sp>
      <p:sp>
        <p:nvSpPr>
          <p:cNvPr id="108" name="Google Shape;108;p2"/>
          <p:cNvSpPr txBox="1">
            <a:spLocks noGrp="1"/>
          </p:cNvSpPr>
          <p:nvPr>
            <p:ph type="body" idx="1"/>
          </p:nvPr>
        </p:nvSpPr>
        <p:spPr>
          <a:xfrm>
            <a:off x="301250" y="1055050"/>
            <a:ext cx="11052600" cy="5403300"/>
          </a:xfrm>
          <a:prstGeom prst="rect">
            <a:avLst/>
          </a:prstGeom>
          <a:noFill/>
          <a:ln>
            <a:noFill/>
          </a:ln>
        </p:spPr>
        <p:txBody>
          <a:bodyPr spcFirstLastPara="1" wrap="square" lIns="91425" tIns="45700" rIns="91425" bIns="45700" anchor="t" anchorCtr="0">
            <a:noAutofit/>
          </a:bodyPr>
          <a:lstStyle/>
          <a:p>
            <a:pPr>
              <a:buNone/>
            </a:pPr>
            <a:r>
              <a:rPr lang="en-US" sz="2400" dirty="0">
                <a:solidFill>
                  <a:srgbClr val="0F1115"/>
                </a:solidFill>
                <a:highlight>
                  <a:srgbClr val="FFFFFF"/>
                </a:highlight>
                <a:ea typeface="+mn-lt"/>
                <a:cs typeface="+mn-lt"/>
              </a:rPr>
              <a:t>        Predicting whether a stock price will go up or down is a major challenge, especially in a highly volatile market. To make accurate predictions, it is essential to consider not just the historical price data but also relevant news articles that can influence investor behavior. Combining these two different types of information, or modalities, can provide a much stronger signal about future market movements than using either one alone.</a:t>
            </a:r>
            <a:endParaRPr lang="en-US" sz="2400" dirty="0">
              <a:ea typeface="+mn-lt"/>
              <a:cs typeface="+mn-lt"/>
            </a:endParaRPr>
          </a:p>
          <a:p>
            <a:pPr>
              <a:buNone/>
            </a:pPr>
            <a:r>
              <a:rPr lang="en-US" sz="2400" dirty="0">
                <a:solidFill>
                  <a:srgbClr val="0F1115"/>
                </a:solidFill>
                <a:highlight>
                  <a:srgbClr val="FFFFFF"/>
                </a:highlight>
                <a:ea typeface="+mn-lt"/>
                <a:cs typeface="+mn-lt"/>
              </a:rPr>
              <a:t>         The </a:t>
            </a:r>
            <a:r>
              <a:rPr lang="en-US" sz="2400" b="1" dirty="0">
                <a:solidFill>
                  <a:srgbClr val="0F1115"/>
                </a:solidFill>
                <a:highlight>
                  <a:srgbClr val="FFFFFF"/>
                </a:highlight>
                <a:ea typeface="+mn-lt"/>
                <a:cs typeface="+mn-lt"/>
              </a:rPr>
              <a:t>Hybrid Information Mixing Module (HIMM)</a:t>
            </a:r>
            <a:r>
              <a:rPr lang="en-US" sz="2400" dirty="0">
                <a:solidFill>
                  <a:srgbClr val="0F1115"/>
                </a:solidFill>
                <a:highlight>
                  <a:srgbClr val="FFFFFF"/>
                </a:highlight>
                <a:ea typeface="+mn-lt"/>
                <a:cs typeface="+mn-lt"/>
              </a:rPr>
              <a:t> blends time-series price features with semantic news features using two MLP blocks. It captures complex interactions between price patterns and news by learning across rows and columns of combined data. This strengthens the connection between both information types to identify important market signals. The result is more robust and accurate stock movement predictions.</a:t>
            </a:r>
            <a:endParaRPr lang="en-US" sz="2400" dirty="0">
              <a:ea typeface="+mn-lt"/>
              <a:cs typeface="+mn-lt"/>
            </a:endParaRPr>
          </a:p>
          <a:p>
            <a:pPr>
              <a:buNone/>
            </a:pPr>
            <a:endParaRPr lang="en-US" sz="2400" dirty="0">
              <a:solidFill>
                <a:srgbClr val="0F1115"/>
              </a:solidFill>
              <a:highlight>
                <a:srgbClr val="FFFFFF"/>
              </a:highlight>
            </a:endParaRPr>
          </a:p>
        </p:txBody>
      </p:sp>
      <p:sp>
        <p:nvSpPr>
          <p:cNvPr id="2" name="Footer Placeholder 1">
            <a:extLst>
              <a:ext uri="{FF2B5EF4-FFF2-40B4-BE49-F238E27FC236}">
                <a16:creationId xmlns:a16="http://schemas.microsoft.com/office/drawing/2014/main" id="{E76765CA-AF71-0583-A360-B1A4DD50E682}"/>
              </a:ext>
            </a:extLst>
          </p:cNvPr>
          <p:cNvSpPr>
            <a:spLocks noGrp="1"/>
          </p:cNvSpPr>
          <p:nvPr/>
        </p:nvSpPr>
        <p:spPr>
          <a:xfrm>
            <a:off x="2750731" y="6024972"/>
            <a:ext cx="6690538" cy="770701"/>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III </a:t>
            </a:r>
            <a:r>
              <a:rPr lang="en-US" dirty="0" err="1"/>
              <a:t>B.Tech</a:t>
            </a:r>
            <a:r>
              <a:rPr lang="en-US" dirty="0"/>
              <a:t> (CSE-D) Industrial Oriented Mini Project (IOMP) Presentation Review-2,</a:t>
            </a:r>
          </a:p>
          <a:p>
            <a:r>
              <a:rPr lang="en-US" dirty="0"/>
              <a:t> CSE Dept, CVR college of Engineering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
          <p:cNvSpPr txBox="1">
            <a:spLocks noGrp="1"/>
          </p:cNvSpPr>
          <p:nvPr>
            <p:ph type="title"/>
          </p:nvPr>
        </p:nvSpPr>
        <p:spPr>
          <a:xfrm>
            <a:off x="301275" y="281075"/>
            <a:ext cx="11052600" cy="494400"/>
          </a:xfrm>
          <a:prstGeom prst="rect">
            <a:avLst/>
          </a:prstGeom>
          <a:solidFill>
            <a:srgbClr val="C9DAF8"/>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2520"/>
              <a:buFont typeface="Times New Roman"/>
              <a:buNone/>
            </a:pPr>
            <a:r>
              <a:rPr lang="en-IN" sz="3600" b="1">
                <a:solidFill>
                  <a:schemeClr val="dk1"/>
                </a:solidFill>
              </a:rPr>
              <a:t>Introduction</a:t>
            </a:r>
            <a:endParaRPr sz="3600" b="1">
              <a:solidFill>
                <a:schemeClr val="dk1"/>
              </a:solidFill>
            </a:endParaRPr>
          </a:p>
        </p:txBody>
      </p:sp>
      <p:cxnSp>
        <p:nvCxnSpPr>
          <p:cNvPr id="114" name="Google Shape;114;p3"/>
          <p:cNvCxnSpPr/>
          <p:nvPr/>
        </p:nvCxnSpPr>
        <p:spPr>
          <a:xfrm rot="10800000" flipH="1">
            <a:off x="301275" y="739354"/>
            <a:ext cx="11052600" cy="36000"/>
          </a:xfrm>
          <a:prstGeom prst="straightConnector1">
            <a:avLst/>
          </a:prstGeom>
          <a:noFill/>
          <a:ln w="28575" cap="flat" cmpd="sng">
            <a:solidFill>
              <a:srgbClr val="222A35"/>
            </a:solidFill>
            <a:prstDash val="solid"/>
            <a:miter lim="800000"/>
            <a:headEnd type="none" w="sm" len="sm"/>
            <a:tailEnd type="none" w="sm" len="sm"/>
          </a:ln>
        </p:spPr>
      </p:cxnSp>
      <p:sp>
        <p:nvSpPr>
          <p:cNvPr id="115" name="Google Shape;115;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en-IN" sz="1600" b="1"/>
              <a:t>4</a:t>
            </a:fld>
            <a:endParaRPr sz="1600" b="1"/>
          </a:p>
        </p:txBody>
      </p:sp>
      <p:sp>
        <p:nvSpPr>
          <p:cNvPr id="118" name="Google Shape;118;p3"/>
          <p:cNvSpPr txBox="1"/>
          <p:nvPr/>
        </p:nvSpPr>
        <p:spPr>
          <a:xfrm>
            <a:off x="301275" y="1351528"/>
            <a:ext cx="11052600" cy="4154943"/>
          </a:xfrm>
          <a:prstGeom prst="rect">
            <a:avLst/>
          </a:prstGeom>
          <a:noFill/>
          <a:ln>
            <a:noFill/>
          </a:ln>
        </p:spPr>
        <p:txBody>
          <a:bodyPr spcFirstLastPara="1" wrap="square" lIns="91425" tIns="45700" rIns="91425" bIns="45700" anchor="t" anchorCtr="0">
            <a:spAutoFit/>
          </a:bodyPr>
          <a:lstStyle/>
          <a:p>
            <a:pPr>
              <a:buFont typeface="Arial"/>
              <a:buChar char="•"/>
            </a:pPr>
            <a:r>
              <a:rPr lang="en-US" sz="2400" dirty="0">
                <a:solidFill>
                  <a:srgbClr val="0F1115"/>
                </a:solidFill>
                <a:highlight>
                  <a:srgbClr val="FFFFFF"/>
                </a:highlight>
                <a:ea typeface="+mn-lt"/>
                <a:cs typeface="+mn-lt"/>
              </a:rPr>
              <a:t>Stock markets are affected by multiple factors including historical price data, financial news, and social media sentiment.</a:t>
            </a:r>
            <a:endParaRPr lang="en-US" sz="2400" dirty="0">
              <a:ea typeface="+mn-lt"/>
              <a:cs typeface="+mn-lt"/>
            </a:endParaRPr>
          </a:p>
          <a:p>
            <a:pPr>
              <a:buFont typeface="Arial"/>
              <a:buChar char="•"/>
            </a:pPr>
            <a:r>
              <a:rPr lang="en-US" sz="2400" dirty="0">
                <a:solidFill>
                  <a:srgbClr val="0F1115"/>
                </a:solidFill>
                <a:highlight>
                  <a:srgbClr val="FFFFFF"/>
                </a:highlight>
                <a:ea typeface="+mn-lt"/>
                <a:cs typeface="+mn-lt"/>
              </a:rPr>
              <a:t>Traditional methods using LSTM or BERT focus on either price or text separately, missing valuable connections between them.</a:t>
            </a:r>
            <a:endParaRPr lang="en-US" sz="2400" dirty="0">
              <a:ea typeface="+mn-lt"/>
              <a:cs typeface="+mn-lt"/>
            </a:endParaRPr>
          </a:p>
          <a:p>
            <a:pPr>
              <a:buFont typeface="Arial"/>
              <a:buChar char="•"/>
            </a:pPr>
            <a:r>
              <a:rPr lang="en-US" sz="2400" dirty="0">
                <a:solidFill>
                  <a:srgbClr val="0F1115"/>
                </a:solidFill>
                <a:highlight>
                  <a:srgbClr val="FFFFFF"/>
                </a:highlight>
                <a:ea typeface="+mn-lt"/>
                <a:cs typeface="+mn-lt"/>
              </a:rPr>
              <a:t>Complex transformer models require heavy computing power and are not always practical for real-world use.</a:t>
            </a:r>
            <a:endParaRPr lang="en-US" sz="2400" dirty="0">
              <a:ea typeface="+mn-lt"/>
              <a:cs typeface="+mn-lt"/>
            </a:endParaRPr>
          </a:p>
          <a:p>
            <a:pPr>
              <a:buFont typeface="Arial"/>
              <a:buChar char="•"/>
            </a:pPr>
            <a:r>
              <a:rPr lang="en-US" sz="2400" dirty="0">
                <a:solidFill>
                  <a:srgbClr val="0F1115"/>
                </a:solidFill>
                <a:highlight>
                  <a:srgbClr val="FFFFFF"/>
                </a:highlight>
                <a:ea typeface="+mn-lt"/>
                <a:cs typeface="+mn-lt"/>
              </a:rPr>
              <a:t>The proposed </a:t>
            </a:r>
            <a:r>
              <a:rPr lang="en-US" sz="2400" b="1" dirty="0">
                <a:solidFill>
                  <a:srgbClr val="0F1115"/>
                </a:solidFill>
                <a:highlight>
                  <a:srgbClr val="FFFFFF"/>
                </a:highlight>
                <a:ea typeface="+mn-lt"/>
                <a:cs typeface="+mn-lt"/>
              </a:rPr>
              <a:t>Hybrid Information Mixing Module (HIMM)</a:t>
            </a:r>
            <a:r>
              <a:rPr lang="en-US" sz="2400" dirty="0">
                <a:solidFill>
                  <a:srgbClr val="0F1115"/>
                </a:solidFill>
                <a:highlight>
                  <a:srgbClr val="FFFFFF"/>
                </a:highlight>
                <a:ea typeface="+mn-lt"/>
                <a:cs typeface="+mn-lt"/>
              </a:rPr>
              <a:t> uses two MLP blocks - one for feature mixing and one for interaction mixing - to blend data effectively.</a:t>
            </a:r>
            <a:endParaRPr lang="en-US" sz="2400" dirty="0">
              <a:ea typeface="Calibri"/>
              <a:cs typeface="Calibri"/>
            </a:endParaRPr>
          </a:p>
          <a:p>
            <a:pPr>
              <a:buFont typeface="Arial"/>
              <a:buChar char="•"/>
            </a:pPr>
            <a:r>
              <a:rPr lang="en-US" sz="2400" dirty="0">
                <a:solidFill>
                  <a:srgbClr val="0F1115"/>
                </a:solidFill>
                <a:highlight>
                  <a:srgbClr val="FFFFFF"/>
                </a:highlight>
                <a:ea typeface="+mn-lt"/>
                <a:cs typeface="+mn-lt"/>
              </a:rPr>
              <a:t>This project introduces HIMM that combines both data types efficiently using simple MLP blocks to improve stock movement prediction accuracy.</a:t>
            </a:r>
            <a:endParaRPr lang="en-US" sz="2400" dirty="0">
              <a:ea typeface="+mn-lt"/>
              <a:cs typeface="+mn-lt"/>
            </a:endParaRPr>
          </a:p>
        </p:txBody>
      </p:sp>
      <p:sp>
        <p:nvSpPr>
          <p:cNvPr id="3" name="Footer Placeholder 1">
            <a:extLst>
              <a:ext uri="{FF2B5EF4-FFF2-40B4-BE49-F238E27FC236}">
                <a16:creationId xmlns:a16="http://schemas.microsoft.com/office/drawing/2014/main" id="{A536F89B-154A-975D-D6EB-99C1F89785F0}"/>
              </a:ext>
            </a:extLst>
          </p:cNvPr>
          <p:cNvSpPr>
            <a:spLocks noGrp="1"/>
          </p:cNvSpPr>
          <p:nvPr/>
        </p:nvSpPr>
        <p:spPr>
          <a:xfrm>
            <a:off x="2750731" y="6024972"/>
            <a:ext cx="6690538" cy="770701"/>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III </a:t>
            </a:r>
            <a:r>
              <a:rPr lang="en-US" dirty="0" err="1"/>
              <a:t>B.Tech</a:t>
            </a:r>
            <a:r>
              <a:rPr lang="en-US" dirty="0"/>
              <a:t> (CSE-D) Industrial Oriented Mini Project (IOMP) Presentation Review-2,</a:t>
            </a:r>
          </a:p>
          <a:p>
            <a:r>
              <a:rPr lang="en-US" dirty="0"/>
              <a:t> CSE Dept, CVR college of Engineering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4"/>
          <p:cNvSpPr txBox="1">
            <a:spLocks noGrp="1"/>
          </p:cNvSpPr>
          <p:nvPr>
            <p:ph type="title"/>
          </p:nvPr>
        </p:nvSpPr>
        <p:spPr>
          <a:xfrm>
            <a:off x="301250" y="337275"/>
            <a:ext cx="11052600" cy="477000"/>
          </a:xfrm>
          <a:prstGeom prst="rect">
            <a:avLst/>
          </a:prstGeom>
          <a:solidFill>
            <a:srgbClr val="C9DAF8"/>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2800"/>
              <a:buFont typeface="Times New Roman"/>
              <a:buNone/>
            </a:pPr>
            <a:r>
              <a:rPr lang="en-IN" sz="3600" b="1">
                <a:solidFill>
                  <a:schemeClr val="dk1"/>
                </a:solidFill>
              </a:rPr>
              <a:t>Problem Statement</a:t>
            </a:r>
            <a:endParaRPr sz="3600" b="1">
              <a:solidFill>
                <a:schemeClr val="dk1"/>
              </a:solidFill>
            </a:endParaRPr>
          </a:p>
        </p:txBody>
      </p:sp>
      <p:cxnSp>
        <p:nvCxnSpPr>
          <p:cNvPr id="124" name="Google Shape;124;p4"/>
          <p:cNvCxnSpPr/>
          <p:nvPr/>
        </p:nvCxnSpPr>
        <p:spPr>
          <a:xfrm rot="10800000" flipH="1">
            <a:off x="301250" y="814304"/>
            <a:ext cx="11052600" cy="36000"/>
          </a:xfrm>
          <a:prstGeom prst="straightConnector1">
            <a:avLst/>
          </a:prstGeom>
          <a:noFill/>
          <a:ln w="28575" cap="flat" cmpd="sng">
            <a:solidFill>
              <a:srgbClr val="222A35"/>
            </a:solidFill>
            <a:prstDash val="solid"/>
            <a:miter lim="800000"/>
            <a:headEnd type="none" w="sm" len="sm"/>
            <a:tailEnd type="none" w="sm" len="sm"/>
          </a:ln>
        </p:spPr>
      </p:cxnSp>
      <p:sp>
        <p:nvSpPr>
          <p:cNvPr id="125" name="Google Shape;125;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en-IN" sz="1600" b="1"/>
              <a:t>5</a:t>
            </a:fld>
            <a:endParaRPr sz="1600" b="1"/>
          </a:p>
        </p:txBody>
      </p:sp>
      <p:sp>
        <p:nvSpPr>
          <p:cNvPr id="126" name="Google Shape;126;p4"/>
          <p:cNvSpPr txBox="1">
            <a:spLocks noGrp="1"/>
          </p:cNvSpPr>
          <p:nvPr>
            <p:ph type="body" idx="1"/>
          </p:nvPr>
        </p:nvSpPr>
        <p:spPr>
          <a:xfrm>
            <a:off x="301250" y="1423767"/>
            <a:ext cx="11052600" cy="4690500"/>
          </a:xfrm>
          <a:prstGeom prst="rect">
            <a:avLst/>
          </a:prstGeom>
          <a:noFill/>
          <a:ln>
            <a:noFill/>
          </a:ln>
        </p:spPr>
        <p:txBody>
          <a:bodyPr spcFirstLastPara="1" wrap="square" lIns="91425" tIns="45700" rIns="91425" bIns="45700" anchor="t" anchorCtr="0">
            <a:noAutofit/>
          </a:bodyPr>
          <a:lstStyle/>
          <a:p>
            <a:pPr marL="0" indent="0">
              <a:buNone/>
            </a:pPr>
            <a:r>
              <a:rPr lang="en-US" sz="2400" dirty="0">
                <a:solidFill>
                  <a:srgbClr val="0F1115"/>
                </a:solidFill>
                <a:highlight>
                  <a:srgbClr val="FFFFFF"/>
                </a:highlight>
                <a:ea typeface="+mn-lt"/>
                <a:cs typeface="+mn-lt"/>
              </a:rPr>
              <a:t>     Stock price prediction is difficult because markets are volatile and influenced by price trends, news, and social media. Most existing methods use either price data or news text separately, missing valuable connections between them. Traditional models like LSTM cannot understand news sentiment, while sentiment analysis fails to capture price patterns. Complex transformer models need heavy computing power and are not practical. A simple approach is needed that combines both data types to improve prediction accuracy</a:t>
            </a:r>
            <a:endParaRPr lang="en-US" sz="2400" dirty="0">
              <a:ea typeface="+mn-lt"/>
              <a:cs typeface="+mn-lt"/>
            </a:endParaRPr>
          </a:p>
        </p:txBody>
      </p:sp>
      <p:sp>
        <p:nvSpPr>
          <p:cNvPr id="3" name="Footer Placeholder 1">
            <a:extLst>
              <a:ext uri="{FF2B5EF4-FFF2-40B4-BE49-F238E27FC236}">
                <a16:creationId xmlns:a16="http://schemas.microsoft.com/office/drawing/2014/main" id="{3EB9A67B-FBA8-9D1B-CBEE-7FA118511711}"/>
              </a:ext>
            </a:extLst>
          </p:cNvPr>
          <p:cNvSpPr>
            <a:spLocks noGrp="1"/>
          </p:cNvSpPr>
          <p:nvPr/>
        </p:nvSpPr>
        <p:spPr>
          <a:xfrm>
            <a:off x="2750731" y="6024972"/>
            <a:ext cx="6690538" cy="770701"/>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III </a:t>
            </a:r>
            <a:r>
              <a:rPr lang="en-US" dirty="0" err="1"/>
              <a:t>B.Tech</a:t>
            </a:r>
            <a:r>
              <a:rPr lang="en-US" dirty="0"/>
              <a:t> (CSE-D) Industrial Oriented Mini Project (IOMP) Presentation Review-2,</a:t>
            </a:r>
          </a:p>
          <a:p>
            <a:r>
              <a:rPr lang="en-US" dirty="0"/>
              <a:t> CSE Dept, CVR college of Engineering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99DB21A-2C88-C1FB-E01F-8AAEC95DEC87}"/>
              </a:ext>
            </a:extLst>
          </p:cNvPr>
          <p:cNvSpPr>
            <a:spLocks noGrp="1"/>
          </p:cNvSpPr>
          <p:nvPr/>
        </p:nvSpPr>
        <p:spPr>
          <a:xfrm>
            <a:off x="266122" y="-74623"/>
            <a:ext cx="8252254" cy="7855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solidFill>
                  <a:schemeClr val="tx1"/>
                </a:solidFill>
                <a:latin typeface="Aparajita" panose="02020603050405020304" pitchFamily="18" charset="0"/>
                <a:cs typeface="Aparajita" panose="02020603050405020304" pitchFamily="18" charset="0"/>
              </a:rPr>
              <a:t>Literature Review and Objectives:</a:t>
            </a:r>
            <a:endParaRPr lang="en-IN" sz="1800" b="1" dirty="0">
              <a:solidFill>
                <a:schemeClr val="tx1"/>
              </a:solidFill>
              <a:latin typeface="Aparajita" panose="02020603050405020304" pitchFamily="18" charset="0"/>
              <a:cs typeface="Aparajita" panose="02020603050405020304" pitchFamily="18" charset="0"/>
            </a:endParaRPr>
          </a:p>
        </p:txBody>
      </p:sp>
      <p:cxnSp>
        <p:nvCxnSpPr>
          <p:cNvPr id="9" name="Straight Connector 8">
            <a:extLst>
              <a:ext uri="{FF2B5EF4-FFF2-40B4-BE49-F238E27FC236}">
                <a16:creationId xmlns:a16="http://schemas.microsoft.com/office/drawing/2014/main" id="{60C32242-583A-3FFF-3773-DF3F899C4968}"/>
              </a:ext>
            </a:extLst>
          </p:cNvPr>
          <p:cNvCxnSpPr>
            <a:cxnSpLocks/>
          </p:cNvCxnSpPr>
          <p:nvPr/>
        </p:nvCxnSpPr>
        <p:spPr>
          <a:xfrm flipV="1">
            <a:off x="177463" y="656944"/>
            <a:ext cx="10609744" cy="54000"/>
          </a:xfrm>
          <a:prstGeom prst="line">
            <a:avLst/>
          </a:prstGeom>
          <a:ln w="28575">
            <a:solidFill>
              <a:schemeClr val="tx2">
                <a:lumMod val="50000"/>
              </a:schemeClr>
            </a:solidFill>
          </a:ln>
        </p:spPr>
        <p:style>
          <a:lnRef idx="1">
            <a:schemeClr val="dk1"/>
          </a:lnRef>
          <a:fillRef idx="0">
            <a:schemeClr val="dk1"/>
          </a:fillRef>
          <a:effectRef idx="0">
            <a:schemeClr val="dk1"/>
          </a:effectRef>
          <a:fontRef idx="minor">
            <a:schemeClr val="tx1"/>
          </a:fontRef>
        </p:style>
      </p:cxnSp>
      <p:sp>
        <p:nvSpPr>
          <p:cNvPr id="10" name="Slide Number Placeholder 3">
            <a:extLst>
              <a:ext uri="{FF2B5EF4-FFF2-40B4-BE49-F238E27FC236}">
                <a16:creationId xmlns:a16="http://schemas.microsoft.com/office/drawing/2014/main" id="{60681766-9EE7-AF98-662D-5C25A920F322}"/>
              </a:ext>
            </a:extLst>
          </p:cNvPr>
          <p:cNvSpPr>
            <a:spLocks noGrp="1"/>
          </p:cNvSpPr>
          <p:nvPr/>
        </p:nvSpPr>
        <p:spPr>
          <a:xfrm>
            <a:off x="8653961" y="6438014"/>
            <a:ext cx="263329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19954A3-9DFD-4C44-94BA-B95130A3BA1C}" type="slidenum">
              <a:rPr lang="en-US" sz="1600" b="1" smtClean="0"/>
              <a:pPr/>
              <a:t>6</a:t>
            </a:fld>
            <a:endParaRPr lang="en-US" sz="1600" b="1" dirty="0"/>
          </a:p>
        </p:txBody>
      </p:sp>
      <p:graphicFrame>
        <p:nvGraphicFramePr>
          <p:cNvPr id="14" name="Table 13">
            <a:extLst>
              <a:ext uri="{FF2B5EF4-FFF2-40B4-BE49-F238E27FC236}">
                <a16:creationId xmlns:a16="http://schemas.microsoft.com/office/drawing/2014/main" id="{93BAE5F5-33F6-1CB7-6C26-586CAEF3D3A2}"/>
              </a:ext>
            </a:extLst>
          </p:cNvPr>
          <p:cNvGraphicFramePr>
            <a:graphicFrameLocks noGrp="1"/>
          </p:cNvGraphicFramePr>
          <p:nvPr/>
        </p:nvGraphicFramePr>
        <p:xfrm>
          <a:off x="0" y="526694"/>
          <a:ext cx="12191999" cy="6605309"/>
        </p:xfrm>
        <a:graphic>
          <a:graphicData uri="http://schemas.openxmlformats.org/drawingml/2006/table">
            <a:tbl>
              <a:tblPr firstRow="1" bandRow="1">
                <a:tableStyleId>{F5AB1C69-6EDB-4FF4-983F-18BD219EF322}</a:tableStyleId>
              </a:tblPr>
              <a:tblGrid>
                <a:gridCol w="730069">
                  <a:extLst>
                    <a:ext uri="{9D8B030D-6E8A-4147-A177-3AD203B41FA5}">
                      <a16:colId xmlns:a16="http://schemas.microsoft.com/office/drawing/2014/main" val="3561073962"/>
                    </a:ext>
                  </a:extLst>
                </a:gridCol>
                <a:gridCol w="2703308">
                  <a:extLst>
                    <a:ext uri="{9D8B030D-6E8A-4147-A177-3AD203B41FA5}">
                      <a16:colId xmlns:a16="http://schemas.microsoft.com/office/drawing/2014/main" val="3723613491"/>
                    </a:ext>
                  </a:extLst>
                </a:gridCol>
                <a:gridCol w="5517476">
                  <a:extLst>
                    <a:ext uri="{9D8B030D-6E8A-4147-A177-3AD203B41FA5}">
                      <a16:colId xmlns:a16="http://schemas.microsoft.com/office/drawing/2014/main" val="3901700943"/>
                    </a:ext>
                  </a:extLst>
                </a:gridCol>
                <a:gridCol w="3241146">
                  <a:extLst>
                    <a:ext uri="{9D8B030D-6E8A-4147-A177-3AD203B41FA5}">
                      <a16:colId xmlns:a16="http://schemas.microsoft.com/office/drawing/2014/main" val="1465853802"/>
                    </a:ext>
                  </a:extLst>
                </a:gridCol>
              </a:tblGrid>
              <a:tr h="760781">
                <a:tc>
                  <a:txBody>
                    <a:bodyPr/>
                    <a:lstStyle/>
                    <a:p>
                      <a:r>
                        <a:rPr lang="en-US" sz="2000" dirty="0">
                          <a:solidFill>
                            <a:schemeClr val="tx1"/>
                          </a:solidFill>
                          <a:latin typeface="Aparajita" panose="02020603050405020304" pitchFamily="18" charset="0"/>
                          <a:cs typeface="Aparajita" panose="02020603050405020304" pitchFamily="18" charset="0"/>
                        </a:rPr>
                        <a:t>S.NO</a:t>
                      </a:r>
                      <a:endParaRPr lang="en-IN" sz="2000" dirty="0">
                        <a:solidFill>
                          <a:schemeClr val="tx1"/>
                        </a:solidFill>
                        <a:latin typeface="Aparajita" panose="02020603050405020304" pitchFamily="18" charset="0"/>
                        <a:cs typeface="Aparajita" panose="02020603050405020304" pitchFamily="18" charset="0"/>
                      </a:endParaRPr>
                    </a:p>
                  </a:txBody>
                  <a:tcPr/>
                </a:tc>
                <a:tc>
                  <a:txBody>
                    <a:bodyPr/>
                    <a:lstStyle/>
                    <a:p>
                      <a:r>
                        <a:rPr lang="en-US" sz="2400" dirty="0">
                          <a:solidFill>
                            <a:schemeClr val="tx1"/>
                          </a:solidFill>
                          <a:latin typeface="Aparajita" panose="02020603050405020304" pitchFamily="18" charset="0"/>
                          <a:cs typeface="Aparajita" panose="02020603050405020304" pitchFamily="18" charset="0"/>
                        </a:rPr>
                        <a:t>Key Papers &amp; Authors</a:t>
                      </a:r>
                      <a:endParaRPr lang="en-IN" sz="2400" dirty="0">
                        <a:solidFill>
                          <a:schemeClr val="tx1"/>
                        </a:solidFill>
                        <a:latin typeface="Aparajita" panose="02020603050405020304" pitchFamily="18" charset="0"/>
                        <a:cs typeface="Aparajita" panose="02020603050405020304" pitchFamily="18" charset="0"/>
                      </a:endParaRPr>
                    </a:p>
                  </a:txBody>
                  <a:tcPr/>
                </a:tc>
                <a:tc>
                  <a:txBody>
                    <a:bodyPr/>
                    <a:lstStyle/>
                    <a:p>
                      <a:r>
                        <a:rPr lang="en-US" sz="2400" dirty="0">
                          <a:solidFill>
                            <a:schemeClr val="tx1"/>
                          </a:solidFill>
                          <a:latin typeface="Aparajita" panose="02020603050405020304" pitchFamily="18" charset="0"/>
                          <a:cs typeface="Aparajita" panose="02020603050405020304" pitchFamily="18" charset="0"/>
                        </a:rPr>
                        <a:t>Implementations /limitations</a:t>
                      </a:r>
                      <a:endParaRPr lang="en-IN" sz="2400" dirty="0">
                        <a:solidFill>
                          <a:schemeClr val="tx1"/>
                        </a:solidFill>
                        <a:latin typeface="Aparajita" panose="02020603050405020304" pitchFamily="18" charset="0"/>
                        <a:cs typeface="Aparajita" panose="02020603050405020304" pitchFamily="18" charset="0"/>
                      </a:endParaRPr>
                    </a:p>
                  </a:txBody>
                  <a:tcPr/>
                </a:tc>
                <a:tc>
                  <a:txBody>
                    <a:bodyPr/>
                    <a:lstStyle/>
                    <a:p>
                      <a:r>
                        <a:rPr lang="en-US" sz="2400" dirty="0">
                          <a:solidFill>
                            <a:schemeClr val="tx1"/>
                          </a:solidFill>
                          <a:latin typeface="Aparajita" panose="02020603050405020304" pitchFamily="18" charset="0"/>
                          <a:cs typeface="Aparajita" panose="02020603050405020304" pitchFamily="18" charset="0"/>
                        </a:rPr>
                        <a:t>Major Research Gap Identifier</a:t>
                      </a:r>
                      <a:endParaRPr lang="en-IN" sz="2400" dirty="0">
                        <a:solidFill>
                          <a:schemeClr val="tx1"/>
                        </a:solidFill>
                        <a:latin typeface="Aparajita" panose="02020603050405020304" pitchFamily="18" charset="0"/>
                        <a:cs typeface="Aparajita" panose="02020603050405020304" pitchFamily="18" charset="0"/>
                      </a:endParaRPr>
                    </a:p>
                  </a:txBody>
                  <a:tcPr/>
                </a:tc>
                <a:extLst>
                  <a:ext uri="{0D108BD9-81ED-4DB2-BD59-A6C34878D82A}">
                    <a16:rowId xmlns:a16="http://schemas.microsoft.com/office/drawing/2014/main" val="3339265674"/>
                  </a:ext>
                </a:extLst>
              </a:tr>
              <a:tr h="1212428">
                <a:tc>
                  <a:txBody>
                    <a:bodyPr/>
                    <a:lstStyle/>
                    <a:p>
                      <a:pPr>
                        <a:buNone/>
                      </a:pPr>
                      <a:r>
                        <a:rPr lang="en-IN" sz="1800" dirty="0">
                          <a:solidFill>
                            <a:schemeClr val="tx1"/>
                          </a:solidFill>
                          <a:latin typeface="Aparajita" panose="02020603050405020304" pitchFamily="18" charset="0"/>
                          <a:cs typeface="Aparajita" panose="02020603050405020304" pitchFamily="18" charset="0"/>
                        </a:rPr>
                        <a:t>1</a:t>
                      </a:r>
                    </a:p>
                  </a:txBody>
                  <a:tcPr anchor="ctr"/>
                </a:tc>
                <a:tc>
                  <a:txBody>
                    <a:bodyPr/>
                    <a:lstStyle/>
                    <a:p>
                      <a:pPr>
                        <a:buNone/>
                      </a:pPr>
                      <a:r>
                        <a:rPr lang="en-US" sz="1700" dirty="0">
                          <a:latin typeface="Aparajita" panose="02020603050405020304" pitchFamily="18" charset="0"/>
                          <a:cs typeface="Aparajita" panose="02020603050405020304" pitchFamily="18" charset="0"/>
                        </a:rPr>
                        <a:t>Xu &amp; Cohen (2018) </a:t>
                      </a:r>
                      <a:r>
                        <a:rPr lang="en-US" sz="1700" i="1" dirty="0">
                          <a:latin typeface="Aparajita" panose="02020603050405020304" pitchFamily="18" charset="0"/>
                          <a:cs typeface="Aparajita" panose="02020603050405020304" pitchFamily="18" charset="0"/>
                        </a:rPr>
                        <a:t>– Stock Movement Prediction from Tweets and Historical Prices</a:t>
                      </a:r>
                      <a:endParaRPr lang="en-US" sz="1700" i="1" dirty="0">
                        <a:solidFill>
                          <a:schemeClr val="tx1"/>
                        </a:solidFill>
                        <a:latin typeface="Aparajita" panose="02020603050405020304" pitchFamily="18" charset="0"/>
                        <a:cs typeface="Aparajita" panose="02020603050405020304" pitchFamily="18" charset="0"/>
                      </a:endParaRPr>
                    </a:p>
                  </a:txBody>
                  <a:tcPr anchor="ctr"/>
                </a:tc>
                <a:tc>
                  <a:txBody>
                    <a:bodyPr/>
                    <a:lstStyle/>
                    <a:p>
                      <a:pPr>
                        <a:buNone/>
                      </a:pPr>
                      <a:r>
                        <a:rPr lang="en-US" sz="1700" dirty="0">
                          <a:latin typeface="Aparajita" panose="02020603050405020304" pitchFamily="18" charset="0"/>
                          <a:cs typeface="Aparajita" panose="02020603050405020304" pitchFamily="18" charset="0"/>
                        </a:rPr>
                        <a:t>Combined Twitter sentiment with historical stock prices using machine learning models. </a:t>
                      </a:r>
                    </a:p>
                    <a:p>
                      <a:pPr>
                        <a:buNone/>
                      </a:pPr>
                      <a:r>
                        <a:rPr lang="en-US" sz="1700" dirty="0">
                          <a:latin typeface="Aparajita" panose="02020603050405020304" pitchFamily="18" charset="0"/>
                          <a:cs typeface="Aparajita" panose="02020603050405020304" pitchFamily="18" charset="0"/>
                        </a:rPr>
                        <a:t>Limitation: Social media noise and weak interaction between textual and numerical features.</a:t>
                      </a:r>
                      <a:endParaRPr lang="en-US" sz="1700" dirty="0">
                        <a:solidFill>
                          <a:schemeClr val="tx1"/>
                        </a:solidFill>
                        <a:latin typeface="Aparajita" panose="02020603050405020304" pitchFamily="18" charset="0"/>
                        <a:cs typeface="Aparajita" panose="02020603050405020304" pitchFamily="18" charset="0"/>
                      </a:endParaRPr>
                    </a:p>
                  </a:txBody>
                  <a:tcPr anchor="ctr"/>
                </a:tc>
                <a:tc>
                  <a:txBody>
                    <a:bodyPr/>
                    <a:lstStyle/>
                    <a:p>
                      <a:pPr>
                        <a:buNone/>
                      </a:pPr>
                      <a:r>
                        <a:rPr lang="en-US" sz="1700" dirty="0">
                          <a:latin typeface="Aparajita" panose="02020603050405020304" pitchFamily="18" charset="0"/>
                          <a:cs typeface="Aparajita" panose="02020603050405020304" pitchFamily="18" charset="0"/>
                        </a:rPr>
                        <a:t>Need for better feature interaction mechanisms between text and price data.</a:t>
                      </a:r>
                      <a:endParaRPr lang="en-US" sz="1700" dirty="0">
                        <a:solidFill>
                          <a:schemeClr val="tx1"/>
                        </a:solidFill>
                        <a:latin typeface="Aparajita" panose="02020603050405020304" pitchFamily="18" charset="0"/>
                        <a:cs typeface="Aparajita" panose="02020603050405020304" pitchFamily="18" charset="0"/>
                      </a:endParaRPr>
                    </a:p>
                  </a:txBody>
                  <a:tcPr anchor="ctr"/>
                </a:tc>
                <a:extLst>
                  <a:ext uri="{0D108BD9-81ED-4DB2-BD59-A6C34878D82A}">
                    <a16:rowId xmlns:a16="http://schemas.microsoft.com/office/drawing/2014/main" val="1935562448"/>
                  </a:ext>
                </a:extLst>
              </a:tr>
              <a:tr h="1212428">
                <a:tc>
                  <a:txBody>
                    <a:bodyPr/>
                    <a:lstStyle/>
                    <a:p>
                      <a:pPr>
                        <a:buNone/>
                      </a:pPr>
                      <a:r>
                        <a:rPr lang="en-IN" sz="1800" dirty="0">
                          <a:solidFill>
                            <a:schemeClr val="tx1"/>
                          </a:solidFill>
                          <a:latin typeface="Aparajita" panose="02020603050405020304" pitchFamily="18" charset="0"/>
                          <a:cs typeface="Aparajita" panose="02020603050405020304" pitchFamily="18" charset="0"/>
                        </a:rPr>
                        <a:t>2</a:t>
                      </a:r>
                    </a:p>
                  </a:txBody>
                  <a:tcPr anchor="ctr"/>
                </a:tc>
                <a:tc>
                  <a:txBody>
                    <a:bodyPr/>
                    <a:lstStyle/>
                    <a:p>
                      <a:pPr>
                        <a:buNone/>
                      </a:pPr>
                      <a:r>
                        <a:rPr lang="en-US" sz="1700" dirty="0">
                          <a:latin typeface="Aparajita" panose="02020603050405020304" pitchFamily="18" charset="0"/>
                          <a:cs typeface="Aparajita" panose="02020603050405020304" pitchFamily="18" charset="0"/>
                        </a:rPr>
                        <a:t>Lin et al. (2017) – </a:t>
                      </a:r>
                      <a:r>
                        <a:rPr lang="en-US" sz="1700" i="1" dirty="0">
                          <a:latin typeface="Aparajita" panose="02020603050405020304" pitchFamily="18" charset="0"/>
                          <a:cs typeface="Aparajita" panose="02020603050405020304" pitchFamily="18" charset="0"/>
                        </a:rPr>
                        <a:t>Hybrid Neural Networks for Learning Time-Series Trends</a:t>
                      </a:r>
                      <a:endParaRPr lang="en-US" sz="1700" dirty="0">
                        <a:latin typeface="Aparajita" panose="02020603050405020304" pitchFamily="18" charset="0"/>
                        <a:cs typeface="Aparajita" panose="02020603050405020304" pitchFamily="18" charset="0"/>
                      </a:endParaRPr>
                    </a:p>
                  </a:txBody>
                  <a:tcPr anchor="ctr"/>
                </a:tc>
                <a:tc>
                  <a:txBody>
                    <a:bodyPr/>
                    <a:lstStyle/>
                    <a:p>
                      <a:pPr>
                        <a:buNone/>
                      </a:pPr>
                      <a:r>
                        <a:rPr lang="en-US" sz="1700" dirty="0">
                          <a:latin typeface="Aparajita" panose="02020603050405020304" pitchFamily="18" charset="0"/>
                          <a:cs typeface="Aparajita" panose="02020603050405020304" pitchFamily="18" charset="0"/>
                        </a:rPr>
                        <a:t>Used hybrid neural networks to capture time-series trends in stock markets.</a:t>
                      </a:r>
                    </a:p>
                    <a:p>
                      <a:pPr>
                        <a:buNone/>
                      </a:pPr>
                      <a:r>
                        <a:rPr lang="en-US" sz="1700" dirty="0">
                          <a:latin typeface="Aparajita" panose="02020603050405020304" pitchFamily="18" charset="0"/>
                          <a:cs typeface="Aparajita" panose="02020603050405020304" pitchFamily="18" charset="0"/>
                        </a:rPr>
                        <a:t> Limitation: Focused mainly on numerical time-series data without textual information.</a:t>
                      </a:r>
                      <a:endParaRPr lang="en-US" sz="1700" dirty="0">
                        <a:solidFill>
                          <a:schemeClr val="tx1"/>
                        </a:solidFill>
                        <a:latin typeface="Aparajita" panose="02020603050405020304" pitchFamily="18" charset="0"/>
                        <a:cs typeface="Aparajita" panose="02020603050405020304" pitchFamily="18" charset="0"/>
                      </a:endParaRPr>
                    </a:p>
                  </a:txBody>
                  <a:tcPr anchor="ctr"/>
                </a:tc>
                <a:tc>
                  <a:txBody>
                    <a:bodyPr/>
                    <a:lstStyle/>
                    <a:p>
                      <a:pPr>
                        <a:buNone/>
                      </a:pPr>
                      <a:r>
                        <a:rPr lang="en-US" sz="1700" dirty="0">
                          <a:latin typeface="Aparajita" panose="02020603050405020304" pitchFamily="18" charset="0"/>
                          <a:cs typeface="Aparajita" panose="02020603050405020304" pitchFamily="18" charset="0"/>
                        </a:rPr>
                        <a:t>Lack of multimodal integration with financial news or sentiment data.</a:t>
                      </a:r>
                      <a:endParaRPr lang="en-US" sz="1700" dirty="0">
                        <a:solidFill>
                          <a:schemeClr val="tx1"/>
                        </a:solidFill>
                        <a:latin typeface="Aparajita" panose="02020603050405020304" pitchFamily="18" charset="0"/>
                        <a:cs typeface="Aparajita" panose="02020603050405020304" pitchFamily="18" charset="0"/>
                      </a:endParaRPr>
                    </a:p>
                  </a:txBody>
                  <a:tcPr anchor="ctr"/>
                </a:tc>
                <a:extLst>
                  <a:ext uri="{0D108BD9-81ED-4DB2-BD59-A6C34878D82A}">
                    <a16:rowId xmlns:a16="http://schemas.microsoft.com/office/drawing/2014/main" val="3090642981"/>
                  </a:ext>
                </a:extLst>
              </a:tr>
              <a:tr h="1212428">
                <a:tc>
                  <a:txBody>
                    <a:bodyPr/>
                    <a:lstStyle/>
                    <a:p>
                      <a:pPr>
                        <a:buNone/>
                      </a:pPr>
                      <a:r>
                        <a:rPr lang="en-IN" sz="1800">
                          <a:solidFill>
                            <a:schemeClr val="tx1"/>
                          </a:solidFill>
                          <a:latin typeface="Aparajita" panose="02020603050405020304" pitchFamily="18" charset="0"/>
                          <a:cs typeface="Aparajita" panose="02020603050405020304" pitchFamily="18" charset="0"/>
                        </a:rPr>
                        <a:t>3</a:t>
                      </a:r>
                    </a:p>
                  </a:txBody>
                  <a:tcPr anchor="ctr"/>
                </a:tc>
                <a:tc>
                  <a:txBody>
                    <a:bodyPr/>
                    <a:lstStyle/>
                    <a:p>
                      <a:pPr>
                        <a:buNone/>
                      </a:pPr>
                      <a:r>
                        <a:rPr lang="en-US" sz="1700" dirty="0">
                          <a:latin typeface="Aparajita" panose="02020603050405020304" pitchFamily="18" charset="0"/>
                          <a:cs typeface="Aparajita" panose="02020603050405020304" pitchFamily="18" charset="0"/>
                        </a:rPr>
                        <a:t>Jang et al. (2020) – </a:t>
                      </a:r>
                      <a:r>
                        <a:rPr lang="en-US" sz="1700" i="1" dirty="0">
                          <a:latin typeface="Aparajita" panose="02020603050405020304" pitchFamily="18" charset="0"/>
                          <a:cs typeface="Aparajita" panose="02020603050405020304" pitchFamily="18" charset="0"/>
                        </a:rPr>
                        <a:t>Stock Prediction Using BERT Sentiment Analysis and Macroeconomic Index</a:t>
                      </a:r>
                      <a:endParaRPr lang="en-US" sz="1700" dirty="0">
                        <a:solidFill>
                          <a:schemeClr val="tx1"/>
                        </a:solidFill>
                        <a:latin typeface="Aparajita" panose="02020603050405020304" pitchFamily="18" charset="0"/>
                        <a:cs typeface="Aparajita" panose="02020603050405020304" pitchFamily="18" charset="0"/>
                      </a:endParaRPr>
                    </a:p>
                  </a:txBody>
                  <a:tcPr anchor="ctr"/>
                </a:tc>
                <a:tc>
                  <a:txBody>
                    <a:bodyPr/>
                    <a:lstStyle/>
                    <a:p>
                      <a:pPr>
                        <a:buNone/>
                      </a:pPr>
                      <a:r>
                        <a:rPr lang="en-US" sz="1700" dirty="0">
                          <a:latin typeface="Aparajita" panose="02020603050405020304" pitchFamily="18" charset="0"/>
                          <a:cs typeface="Aparajita" panose="02020603050405020304" pitchFamily="18" charset="0"/>
                        </a:rPr>
                        <a:t>Applied BERT for financial sentiment analysis combined with macroeconomic indicators. </a:t>
                      </a:r>
                    </a:p>
                    <a:p>
                      <a:pPr>
                        <a:buNone/>
                      </a:pPr>
                      <a:r>
                        <a:rPr lang="en-US" sz="1700" dirty="0">
                          <a:latin typeface="Aparajita" panose="02020603050405020304" pitchFamily="18" charset="0"/>
                          <a:cs typeface="Aparajita" panose="02020603050405020304" pitchFamily="18" charset="0"/>
                        </a:rPr>
                        <a:t>Limitation: Limited interaction between semantic text features and stock price features.</a:t>
                      </a:r>
                      <a:endParaRPr lang="en-US" sz="1700" dirty="0">
                        <a:solidFill>
                          <a:schemeClr val="tx1"/>
                        </a:solidFill>
                        <a:latin typeface="Aparajita" panose="02020603050405020304" pitchFamily="18" charset="0"/>
                        <a:cs typeface="Aparajita" panose="02020603050405020304" pitchFamily="18" charset="0"/>
                      </a:endParaRPr>
                    </a:p>
                  </a:txBody>
                  <a:tcPr anchor="ctr"/>
                </a:tc>
                <a:tc>
                  <a:txBody>
                    <a:bodyPr/>
                    <a:lstStyle/>
                    <a:p>
                      <a:pPr>
                        <a:buNone/>
                      </a:pPr>
                      <a:r>
                        <a:rPr lang="en-US" sz="1700" dirty="0">
                          <a:latin typeface="Aparajita" panose="02020603050405020304" pitchFamily="18" charset="0"/>
                          <a:cs typeface="Aparajita" panose="02020603050405020304" pitchFamily="18" charset="0"/>
                        </a:rPr>
                        <a:t>Need for improved feature fusion between NLP features and numerical indicators.</a:t>
                      </a:r>
                      <a:endParaRPr lang="en-US" sz="1700" dirty="0">
                        <a:solidFill>
                          <a:schemeClr val="tx1"/>
                        </a:solidFill>
                        <a:latin typeface="Aparajita" panose="02020603050405020304" pitchFamily="18" charset="0"/>
                        <a:cs typeface="Aparajita" panose="02020603050405020304" pitchFamily="18" charset="0"/>
                      </a:endParaRPr>
                    </a:p>
                  </a:txBody>
                  <a:tcPr anchor="ctr"/>
                </a:tc>
                <a:extLst>
                  <a:ext uri="{0D108BD9-81ED-4DB2-BD59-A6C34878D82A}">
                    <a16:rowId xmlns:a16="http://schemas.microsoft.com/office/drawing/2014/main" val="2258700970"/>
                  </a:ext>
                </a:extLst>
              </a:tr>
              <a:tr h="1212428">
                <a:tc>
                  <a:txBody>
                    <a:bodyPr/>
                    <a:lstStyle/>
                    <a:p>
                      <a:pPr>
                        <a:buNone/>
                      </a:pPr>
                      <a:r>
                        <a:rPr lang="en-IN" sz="1800">
                          <a:solidFill>
                            <a:schemeClr val="tx1"/>
                          </a:solidFill>
                          <a:latin typeface="Aparajita" panose="02020603050405020304" pitchFamily="18" charset="0"/>
                          <a:cs typeface="Aparajita" panose="02020603050405020304" pitchFamily="18" charset="0"/>
                        </a:rPr>
                        <a:t>4</a:t>
                      </a:r>
                    </a:p>
                  </a:txBody>
                  <a:tcPr anchor="ctr"/>
                </a:tc>
                <a:tc>
                  <a:txBody>
                    <a:bodyPr/>
                    <a:lstStyle/>
                    <a:p>
                      <a:pPr>
                        <a:buNone/>
                      </a:pPr>
                      <a:r>
                        <a:rPr lang="en-US" sz="1700" dirty="0">
                          <a:latin typeface="Aparajita" panose="02020603050405020304" pitchFamily="18" charset="0"/>
                          <a:cs typeface="Aparajita" panose="02020603050405020304" pitchFamily="18" charset="0"/>
                        </a:rPr>
                        <a:t>Sawhney et al. (2020) </a:t>
                      </a:r>
                      <a:r>
                        <a:rPr lang="en-US" sz="1700" i="1" dirty="0">
                          <a:latin typeface="Aparajita" panose="02020603050405020304" pitchFamily="18" charset="0"/>
                          <a:cs typeface="Aparajita" panose="02020603050405020304" pitchFamily="18" charset="0"/>
                        </a:rPr>
                        <a:t>– Deep Attentive Learning for Stock Movement Prediction</a:t>
                      </a:r>
                      <a:endParaRPr lang="en-US" sz="1700" i="1" dirty="0">
                        <a:solidFill>
                          <a:schemeClr val="tx1"/>
                        </a:solidFill>
                        <a:latin typeface="Aparajita" panose="02020603050405020304" pitchFamily="18" charset="0"/>
                        <a:cs typeface="Aparajita" panose="02020603050405020304" pitchFamily="18" charset="0"/>
                      </a:endParaRPr>
                    </a:p>
                  </a:txBody>
                  <a:tcPr anchor="ctr"/>
                </a:tc>
                <a:tc>
                  <a:txBody>
                    <a:bodyPr/>
                    <a:lstStyle/>
                    <a:p>
                      <a:pPr>
                        <a:buNone/>
                      </a:pPr>
                      <a:r>
                        <a:rPr lang="en-US" sz="1700" dirty="0">
                          <a:latin typeface="Aparajita" panose="02020603050405020304" pitchFamily="18" charset="0"/>
                          <a:cs typeface="Aparajita" panose="02020603050405020304" pitchFamily="18" charset="0"/>
                        </a:rPr>
                        <a:t>Used attention-based models to analyze social media text and company correlations. Limitation: High computational complexity and heavy dependency on attention mechanisms.</a:t>
                      </a:r>
                      <a:endParaRPr lang="en-US" sz="1700" dirty="0">
                        <a:solidFill>
                          <a:schemeClr val="tx1"/>
                        </a:solidFill>
                        <a:latin typeface="Aparajita" panose="02020603050405020304" pitchFamily="18" charset="0"/>
                        <a:cs typeface="Aparajita" panose="02020603050405020304" pitchFamily="18" charset="0"/>
                      </a:endParaRPr>
                    </a:p>
                  </a:txBody>
                  <a:tcPr anchor="ctr"/>
                </a:tc>
                <a:tc>
                  <a:txBody>
                    <a:bodyPr/>
                    <a:lstStyle/>
                    <a:p>
                      <a:pPr>
                        <a:buNone/>
                      </a:pPr>
                      <a:r>
                        <a:rPr lang="en-US" sz="1700" dirty="0">
                          <a:latin typeface="Aparajita" panose="02020603050405020304" pitchFamily="18" charset="0"/>
                          <a:cs typeface="Aparajita" panose="02020603050405020304" pitchFamily="18" charset="0"/>
                        </a:rPr>
                        <a:t>Need for efficient architectures that reduce complexity while preserving feature interaction.</a:t>
                      </a:r>
                      <a:endParaRPr lang="en-US" sz="1700" dirty="0">
                        <a:solidFill>
                          <a:schemeClr val="tx1"/>
                        </a:solidFill>
                        <a:latin typeface="Aparajita" panose="02020603050405020304" pitchFamily="18" charset="0"/>
                        <a:cs typeface="Aparajita" panose="02020603050405020304" pitchFamily="18" charset="0"/>
                      </a:endParaRPr>
                    </a:p>
                  </a:txBody>
                  <a:tcPr anchor="ctr"/>
                </a:tc>
                <a:extLst>
                  <a:ext uri="{0D108BD9-81ED-4DB2-BD59-A6C34878D82A}">
                    <a16:rowId xmlns:a16="http://schemas.microsoft.com/office/drawing/2014/main" val="3249557651"/>
                  </a:ext>
                </a:extLst>
              </a:tr>
              <a:tr h="932637">
                <a:tc>
                  <a:txBody>
                    <a:bodyPr/>
                    <a:lstStyle/>
                    <a:p>
                      <a:pPr>
                        <a:buNone/>
                      </a:pPr>
                      <a:r>
                        <a:rPr lang="en-IN" sz="1800">
                          <a:solidFill>
                            <a:schemeClr val="tx1"/>
                          </a:solidFill>
                          <a:latin typeface="Aparajita" panose="02020603050405020304" pitchFamily="18" charset="0"/>
                          <a:cs typeface="Aparajita" panose="02020603050405020304" pitchFamily="18" charset="0"/>
                        </a:rPr>
                        <a:t>5</a:t>
                      </a:r>
                    </a:p>
                  </a:txBody>
                  <a:tcPr anchor="ctr"/>
                </a:tc>
                <a:tc>
                  <a:txBody>
                    <a:bodyPr/>
                    <a:lstStyle/>
                    <a:p>
                      <a:pPr>
                        <a:buNone/>
                      </a:pPr>
                      <a:r>
                        <a:rPr lang="en-US" sz="1700" dirty="0">
                          <a:latin typeface="Aparajita" panose="02020603050405020304" pitchFamily="18" charset="0"/>
                          <a:cs typeface="Aparajita" panose="02020603050405020304" pitchFamily="18" charset="0"/>
                        </a:rPr>
                        <a:t>Ding et al. (2015) – </a:t>
                      </a:r>
                      <a:r>
                        <a:rPr lang="en-US" sz="1700" i="1" dirty="0">
                          <a:latin typeface="Aparajita" panose="02020603050405020304" pitchFamily="18" charset="0"/>
                          <a:cs typeface="Aparajita" panose="02020603050405020304" pitchFamily="18" charset="0"/>
                        </a:rPr>
                        <a:t>Deep Learning for Event-Driven Stock Prediction</a:t>
                      </a:r>
                      <a:endParaRPr lang="en-US" sz="1700" dirty="0">
                        <a:solidFill>
                          <a:schemeClr val="tx1"/>
                        </a:solidFill>
                        <a:latin typeface="Aparajita" panose="02020603050405020304" pitchFamily="18" charset="0"/>
                        <a:cs typeface="Aparajita" panose="02020603050405020304" pitchFamily="18" charset="0"/>
                      </a:endParaRPr>
                    </a:p>
                  </a:txBody>
                  <a:tcPr anchor="ctr"/>
                </a:tc>
                <a:tc>
                  <a:txBody>
                    <a:bodyPr/>
                    <a:lstStyle/>
                    <a:p>
                      <a:pPr>
                        <a:buNone/>
                      </a:pPr>
                      <a:r>
                        <a:rPr lang="en-US" sz="1700" dirty="0">
                          <a:latin typeface="Aparajita" panose="02020603050405020304" pitchFamily="18" charset="0"/>
                          <a:cs typeface="Aparajita" panose="02020603050405020304" pitchFamily="18" charset="0"/>
                        </a:rPr>
                        <a:t>Analyzed financial events and news articles to predict stock price movements. Limitation: Event-driven approaches may miss hidden patterns in historical price trends.</a:t>
                      </a:r>
                      <a:endParaRPr lang="en-US" sz="1700" dirty="0">
                        <a:solidFill>
                          <a:schemeClr val="tx1"/>
                        </a:solidFill>
                        <a:latin typeface="Aparajita" panose="02020603050405020304" pitchFamily="18" charset="0"/>
                        <a:cs typeface="Aparajita" panose="02020603050405020304" pitchFamily="18" charset="0"/>
                      </a:endParaRPr>
                    </a:p>
                  </a:txBody>
                  <a:tcPr anchor="ctr"/>
                </a:tc>
                <a:tc>
                  <a:txBody>
                    <a:bodyPr/>
                    <a:lstStyle/>
                    <a:p>
                      <a:pPr>
                        <a:buNone/>
                      </a:pPr>
                      <a:r>
                        <a:rPr lang="en-US" sz="1700" dirty="0">
                          <a:latin typeface="Aparajita" panose="02020603050405020304" pitchFamily="18" charset="0"/>
                          <a:cs typeface="Aparajita" panose="02020603050405020304" pitchFamily="18" charset="0"/>
                        </a:rPr>
                        <a:t>Need for models that combine event-driven insights with historical time-series learning.</a:t>
                      </a:r>
                      <a:endParaRPr lang="en-US" sz="1700" dirty="0">
                        <a:solidFill>
                          <a:schemeClr val="tx1"/>
                        </a:solidFill>
                        <a:latin typeface="Aparajita" panose="02020603050405020304" pitchFamily="18" charset="0"/>
                        <a:cs typeface="Aparajita" panose="02020603050405020304" pitchFamily="18" charset="0"/>
                      </a:endParaRPr>
                    </a:p>
                  </a:txBody>
                  <a:tcPr anchor="ctr"/>
                </a:tc>
                <a:extLst>
                  <a:ext uri="{0D108BD9-81ED-4DB2-BD59-A6C34878D82A}">
                    <a16:rowId xmlns:a16="http://schemas.microsoft.com/office/drawing/2014/main" val="3741359079"/>
                  </a:ext>
                </a:extLst>
              </a:tr>
            </a:tbl>
          </a:graphicData>
        </a:graphic>
      </p:graphicFrame>
    </p:spTree>
    <p:extLst>
      <p:ext uri="{BB962C8B-B14F-4D97-AF65-F5344CB8AC3E}">
        <p14:creationId xmlns:p14="http://schemas.microsoft.com/office/powerpoint/2010/main" val="2095264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cxnSp>
        <p:nvCxnSpPr>
          <p:cNvPr id="139" name="Google Shape;139;g386cf6a2822_0_11"/>
          <p:cNvCxnSpPr/>
          <p:nvPr/>
        </p:nvCxnSpPr>
        <p:spPr>
          <a:xfrm rot="10800000" flipH="1">
            <a:off x="301250" y="889254"/>
            <a:ext cx="11052600" cy="36000"/>
          </a:xfrm>
          <a:prstGeom prst="straightConnector1">
            <a:avLst/>
          </a:prstGeom>
          <a:noFill/>
          <a:ln w="28575" cap="flat" cmpd="sng">
            <a:solidFill>
              <a:srgbClr val="222A35"/>
            </a:solidFill>
            <a:prstDash val="solid"/>
            <a:miter lim="800000"/>
            <a:headEnd type="none" w="sm" len="sm"/>
            <a:tailEnd type="none" w="sm" len="sm"/>
          </a:ln>
        </p:spPr>
      </p:cxnSp>
      <p:sp>
        <p:nvSpPr>
          <p:cNvPr id="140" name="Google Shape;140;g386cf6a2822_0_11"/>
          <p:cNvSpPr txBox="1">
            <a:spLocks noGrp="1"/>
          </p:cNvSpPr>
          <p:nvPr>
            <p:ph type="sldNum" idx="12"/>
          </p:nvPr>
        </p:nvSpPr>
        <p:spPr>
          <a:xfrm>
            <a:off x="8610625" y="61502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en-IN" sz="1600" b="1"/>
              <a:t>7</a:t>
            </a:fld>
            <a:endParaRPr sz="1600" b="1"/>
          </a:p>
        </p:txBody>
      </p:sp>
      <p:sp>
        <p:nvSpPr>
          <p:cNvPr id="141" name="Google Shape;141;g386cf6a2822_0_11"/>
          <p:cNvSpPr txBox="1">
            <a:spLocks noGrp="1"/>
          </p:cNvSpPr>
          <p:nvPr>
            <p:ph type="title"/>
          </p:nvPr>
        </p:nvSpPr>
        <p:spPr>
          <a:xfrm>
            <a:off x="301250" y="374750"/>
            <a:ext cx="11052600" cy="550500"/>
          </a:xfrm>
          <a:prstGeom prst="rect">
            <a:avLst/>
          </a:prstGeom>
          <a:solidFill>
            <a:srgbClr val="C9DAF8"/>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2800"/>
              <a:buFont typeface="Times New Roman"/>
              <a:buNone/>
            </a:pPr>
            <a:r>
              <a:rPr lang="en-IN" sz="3600" b="1"/>
              <a:t>Literature Review and Objective</a:t>
            </a:r>
            <a:endParaRPr sz="3600" b="1">
              <a:solidFill>
                <a:schemeClr val="dk1"/>
              </a:solidFill>
            </a:endParaRPr>
          </a:p>
        </p:txBody>
      </p:sp>
      <p:sp>
        <p:nvSpPr>
          <p:cNvPr id="142" name="Google Shape;142;g386cf6a2822_0_11"/>
          <p:cNvSpPr txBox="1"/>
          <p:nvPr/>
        </p:nvSpPr>
        <p:spPr>
          <a:xfrm>
            <a:off x="413025" y="1717125"/>
            <a:ext cx="10940700" cy="4377600"/>
          </a:xfrm>
          <a:prstGeom prst="rect">
            <a:avLst/>
          </a:prstGeom>
          <a:noFill/>
          <a:ln>
            <a:noFill/>
          </a:ln>
        </p:spPr>
        <p:txBody>
          <a:bodyPr spcFirstLastPara="1" wrap="square" lIns="91425" tIns="91425" rIns="91425" bIns="91425" anchor="t" anchorCtr="0">
            <a:spAutoFit/>
          </a:bodyPr>
          <a:lstStyle/>
          <a:p>
            <a:pPr marL="342900" indent="-342900">
              <a:buFont typeface="Arial" panose="020B0604020202020204" pitchFamily="34" charset="0"/>
              <a:buChar char="•"/>
            </a:pPr>
            <a:r>
              <a:rPr lang="en-US" sz="2400" dirty="0"/>
              <a:t>To design an automated system for stock movement prediction using multimodal</a:t>
            </a:r>
            <a:r>
              <a:rPr lang="en-US" sz="2400" dirty="0">
                <a:ea typeface="Calibri" panose="020F0502020204030204"/>
                <a:cs typeface="Calibri" panose="020F0502020204030204"/>
              </a:rPr>
              <a:t> </a:t>
            </a:r>
            <a:r>
              <a:rPr lang="en-US" sz="2400" dirty="0"/>
              <a:t>data.</a:t>
            </a:r>
            <a:endParaRPr lang="en-US" sz="2400" dirty="0">
              <a:ea typeface="Calibri" panose="020F0502020204030204"/>
              <a:cs typeface="Calibri" panose="020F0502020204030204"/>
            </a:endParaRPr>
          </a:p>
          <a:p>
            <a:pPr marL="342900" indent="-342900">
              <a:buFont typeface="Arial" panose="020B0604020202020204" pitchFamily="34" charset="0"/>
              <a:buChar char="•"/>
            </a:pPr>
            <a:r>
              <a:rPr lang="en-US" sz="2400" dirty="0"/>
              <a:t>To analyze historical stock price data using GRU-based time-series modeling.</a:t>
            </a:r>
            <a:endParaRPr lang="en-US" sz="2400" dirty="0">
              <a:ea typeface="Calibri" panose="020F0502020204030204"/>
              <a:cs typeface="Calibri" panose="020F0502020204030204"/>
            </a:endParaRPr>
          </a:p>
          <a:p>
            <a:pPr marL="342900" indent="-342900">
              <a:buFont typeface="Arial" panose="020B0604020202020204" pitchFamily="34" charset="0"/>
              <a:buChar char="•"/>
            </a:pPr>
            <a:r>
              <a:rPr lang="en-US" sz="2400" dirty="0">
                <a:ea typeface="Calibri" panose="020F0502020204030204"/>
                <a:cs typeface="Calibri" panose="020F0502020204030204"/>
              </a:rPr>
              <a:t>To extract meaningful semantic features from financial news using BERT.</a:t>
            </a:r>
            <a:endParaRPr lang="en-US" sz="2400" dirty="0"/>
          </a:p>
          <a:p>
            <a:pPr marL="342900" indent="-342900">
              <a:buFont typeface="Arial" panose="020B0604020202020204" pitchFamily="34" charset="0"/>
              <a:buChar char="•"/>
            </a:pPr>
            <a:r>
              <a:rPr lang="en-US" sz="2400" dirty="0"/>
              <a:t>To develop a Hybrid Information Mixing Module for effective integration of numerical</a:t>
            </a:r>
            <a:r>
              <a:rPr lang="en-US" sz="2400" dirty="0">
                <a:ea typeface="Calibri" panose="020F0502020204030204"/>
                <a:cs typeface="Calibri" panose="020F0502020204030204"/>
              </a:rPr>
              <a:t> </a:t>
            </a:r>
            <a:r>
              <a:rPr lang="en-US" sz="2400" dirty="0"/>
              <a:t>and textual features.</a:t>
            </a:r>
            <a:endParaRPr lang="en-US" sz="2400" dirty="0">
              <a:ea typeface="Calibri" panose="020F0502020204030204"/>
              <a:cs typeface="Calibri" panose="020F0502020204030204"/>
            </a:endParaRPr>
          </a:p>
          <a:p>
            <a:pPr marL="342900" indent="-342900">
              <a:buFont typeface="Arial" panose="020B0604020202020204" pitchFamily="34" charset="0"/>
              <a:buChar char="•"/>
            </a:pPr>
            <a:r>
              <a:rPr lang="en-US" sz="2400" dirty="0"/>
              <a:t>To improve prediction accuracy compared to traditional single-source models.</a:t>
            </a:r>
            <a:endParaRPr lang="en-US" sz="2400" dirty="0">
              <a:ea typeface="Calibri" panose="020F0502020204030204"/>
              <a:cs typeface="Calibri" panose="020F0502020204030204"/>
            </a:endParaRPr>
          </a:p>
          <a:p>
            <a:pPr marL="342900" indent="-342900">
              <a:buFont typeface="Arial" panose="020B0604020202020204" pitchFamily="34" charset="0"/>
              <a:buChar char="•"/>
            </a:pPr>
            <a:r>
              <a:rPr lang="en-US" sz="2400" dirty="0"/>
              <a:t>To evaluate model performance using Accuracy, F1-Score, and MCC metrics.</a:t>
            </a:r>
            <a:endParaRPr lang="en-US" sz="2400" dirty="0">
              <a:ea typeface="Calibri" panose="020F0502020204030204"/>
              <a:cs typeface="Calibri" panose="020F0502020204030204"/>
            </a:endParaRPr>
          </a:p>
        </p:txBody>
      </p:sp>
      <p:sp>
        <p:nvSpPr>
          <p:cNvPr id="143" name="Google Shape;143;g386cf6a2822_0_11"/>
          <p:cNvSpPr txBox="1">
            <a:spLocks noGrp="1"/>
          </p:cNvSpPr>
          <p:nvPr>
            <p:ph type="title"/>
          </p:nvPr>
        </p:nvSpPr>
        <p:spPr>
          <a:xfrm>
            <a:off x="301275" y="1092788"/>
            <a:ext cx="8596800" cy="550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Times New Roman"/>
              <a:buNone/>
            </a:pPr>
            <a:r>
              <a:rPr lang="en-IN" sz="2800" b="1"/>
              <a:t>Objectives:- </a:t>
            </a:r>
            <a:endParaRPr sz="2800" b="1">
              <a:solidFill>
                <a:schemeClr val="dk1"/>
              </a:solidFill>
            </a:endParaRPr>
          </a:p>
        </p:txBody>
      </p:sp>
      <p:sp>
        <p:nvSpPr>
          <p:cNvPr id="3" name="Footer Placeholder 1">
            <a:extLst>
              <a:ext uri="{FF2B5EF4-FFF2-40B4-BE49-F238E27FC236}">
                <a16:creationId xmlns:a16="http://schemas.microsoft.com/office/drawing/2014/main" id="{D9E4D5B7-A21D-3AA8-C73A-9288D5A436D3}"/>
              </a:ext>
            </a:extLst>
          </p:cNvPr>
          <p:cNvSpPr>
            <a:spLocks noGrp="1"/>
          </p:cNvSpPr>
          <p:nvPr/>
        </p:nvSpPr>
        <p:spPr>
          <a:xfrm>
            <a:off x="2750731" y="6024972"/>
            <a:ext cx="6690538" cy="770701"/>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III </a:t>
            </a:r>
            <a:r>
              <a:rPr lang="en-US" dirty="0" err="1"/>
              <a:t>B.Tech</a:t>
            </a:r>
            <a:r>
              <a:rPr lang="en-US" dirty="0"/>
              <a:t> (CSE-D) Industrial Oriented Mini Project (IOMP) Presentation Review-2,</a:t>
            </a:r>
          </a:p>
          <a:p>
            <a:r>
              <a:rPr lang="en-US" dirty="0"/>
              <a:t> CSE Dept, CVR college of Engineering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6"/>
          <p:cNvSpPr txBox="1">
            <a:spLocks noGrp="1"/>
          </p:cNvSpPr>
          <p:nvPr>
            <p:ph type="title"/>
          </p:nvPr>
        </p:nvSpPr>
        <p:spPr>
          <a:xfrm>
            <a:off x="301275" y="356000"/>
            <a:ext cx="11052600" cy="588000"/>
          </a:xfrm>
          <a:prstGeom prst="rect">
            <a:avLst/>
          </a:prstGeom>
          <a:solidFill>
            <a:srgbClr val="C9DAF8"/>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Times New Roman"/>
              <a:buNone/>
            </a:pPr>
            <a:r>
              <a:rPr lang="en-IN" sz="3600" b="1">
                <a:solidFill>
                  <a:schemeClr val="dk1"/>
                </a:solidFill>
              </a:rPr>
              <a:t>Existing Systems</a:t>
            </a:r>
            <a:endParaRPr sz="3600" b="1">
              <a:solidFill>
                <a:schemeClr val="dk1"/>
              </a:solidFill>
            </a:endParaRPr>
          </a:p>
        </p:txBody>
      </p:sp>
      <p:cxnSp>
        <p:nvCxnSpPr>
          <p:cNvPr id="149" name="Google Shape;149;p6"/>
          <p:cNvCxnSpPr/>
          <p:nvPr/>
        </p:nvCxnSpPr>
        <p:spPr>
          <a:xfrm rot="10800000" flipH="1">
            <a:off x="301275" y="907979"/>
            <a:ext cx="11052600" cy="36000"/>
          </a:xfrm>
          <a:prstGeom prst="straightConnector1">
            <a:avLst/>
          </a:prstGeom>
          <a:noFill/>
          <a:ln w="28575" cap="flat" cmpd="sng">
            <a:solidFill>
              <a:srgbClr val="222A35"/>
            </a:solidFill>
            <a:prstDash val="solid"/>
            <a:miter lim="800000"/>
            <a:headEnd type="none" w="sm" len="sm"/>
            <a:tailEnd type="none" w="sm" len="sm"/>
          </a:ln>
        </p:spPr>
      </p:cxnSp>
      <p:sp>
        <p:nvSpPr>
          <p:cNvPr id="150" name="Google Shape;150;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en-IN" sz="1600" b="1"/>
              <a:t>8</a:t>
            </a:fld>
            <a:endParaRPr sz="1600" b="1"/>
          </a:p>
        </p:txBody>
      </p:sp>
      <p:sp>
        <p:nvSpPr>
          <p:cNvPr id="151" name="Google Shape;151;p6"/>
          <p:cNvSpPr txBox="1">
            <a:spLocks noGrp="1"/>
          </p:cNvSpPr>
          <p:nvPr>
            <p:ph type="body" idx="1"/>
          </p:nvPr>
        </p:nvSpPr>
        <p:spPr>
          <a:xfrm>
            <a:off x="301275" y="1117750"/>
            <a:ext cx="11052600" cy="5238600"/>
          </a:xfrm>
          <a:prstGeom prst="rect">
            <a:avLst/>
          </a:prstGeom>
          <a:noFill/>
          <a:ln>
            <a:noFill/>
          </a:ln>
        </p:spPr>
        <p:txBody>
          <a:bodyPr spcFirstLastPara="1" wrap="square" lIns="91425" tIns="45700" rIns="91425" bIns="45700" anchor="t" anchorCtr="0">
            <a:noAutofit/>
          </a:bodyPr>
          <a:lstStyle/>
          <a:p>
            <a:r>
              <a:rPr lang="en-US" sz="2400" b="1" dirty="0"/>
              <a:t>ARIMA Model</a:t>
            </a:r>
            <a:r>
              <a:rPr lang="en-US" sz="2400" dirty="0"/>
              <a:t> – Uses only historical price data for forecasting and cannot handle    complex non-linear patterns.</a:t>
            </a:r>
          </a:p>
          <a:p>
            <a:r>
              <a:rPr lang="en-US" sz="2400" b="1" dirty="0"/>
              <a:t>LSTM &amp; GRU Models</a:t>
            </a:r>
            <a:r>
              <a:rPr lang="en-US" sz="2400" dirty="0"/>
              <a:t> – Capture time-series patterns but focus only on numerical                                  stock data.</a:t>
            </a:r>
          </a:p>
          <a:p>
            <a:r>
              <a:rPr lang="en-US" sz="2400" b="1" dirty="0"/>
              <a:t>Sentiment Analysis Models</a:t>
            </a:r>
            <a:r>
              <a:rPr lang="en-US" sz="2400" dirty="0"/>
              <a:t> – Analyze financial news or social media separately without integrating price trends.</a:t>
            </a:r>
          </a:p>
          <a:p>
            <a:r>
              <a:rPr lang="en-US" sz="2400" b="1" dirty="0"/>
              <a:t>Simple Feature Concatenation Methods</a:t>
            </a:r>
            <a:r>
              <a:rPr lang="en-US" sz="2400" dirty="0"/>
              <a:t> – Combine price and text data directly,  leading to weak feature interaction and information loss.</a:t>
            </a:r>
          </a:p>
          <a:p>
            <a:r>
              <a:rPr lang="en-US" sz="2400" dirty="0"/>
              <a:t> </a:t>
            </a:r>
            <a:r>
              <a:rPr lang="en-US" sz="2400" b="1" dirty="0"/>
              <a:t>Attention-Based Models</a:t>
            </a:r>
            <a:r>
              <a:rPr lang="en-US" sz="2400" dirty="0"/>
              <a:t> – Improve feature fusion but increase computational  complexity and still fail to fully capture multimodal relationships.</a:t>
            </a:r>
          </a:p>
        </p:txBody>
      </p:sp>
      <p:sp>
        <p:nvSpPr>
          <p:cNvPr id="3" name="Footer Placeholder 1">
            <a:extLst>
              <a:ext uri="{FF2B5EF4-FFF2-40B4-BE49-F238E27FC236}">
                <a16:creationId xmlns:a16="http://schemas.microsoft.com/office/drawing/2014/main" id="{4621D1AC-D231-B1AD-ADF4-EFB4CF3549AC}"/>
              </a:ext>
            </a:extLst>
          </p:cNvPr>
          <p:cNvSpPr>
            <a:spLocks noGrp="1"/>
          </p:cNvSpPr>
          <p:nvPr/>
        </p:nvSpPr>
        <p:spPr>
          <a:xfrm>
            <a:off x="2750731" y="6024972"/>
            <a:ext cx="6690538" cy="770701"/>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III </a:t>
            </a:r>
            <a:r>
              <a:rPr lang="en-US" dirty="0" err="1"/>
              <a:t>B.Tech</a:t>
            </a:r>
            <a:r>
              <a:rPr lang="en-US" dirty="0"/>
              <a:t> (CSE-D) Industrial Oriented Mini Project (IOMP) Presentation Review-2,</a:t>
            </a:r>
          </a:p>
          <a:p>
            <a:r>
              <a:rPr lang="en-US" dirty="0"/>
              <a:t> CSE Dept, CVR college of Engineering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7"/>
          <p:cNvSpPr txBox="1">
            <a:spLocks noGrp="1"/>
          </p:cNvSpPr>
          <p:nvPr>
            <p:ph type="title"/>
          </p:nvPr>
        </p:nvSpPr>
        <p:spPr>
          <a:xfrm>
            <a:off x="301250" y="356025"/>
            <a:ext cx="11052600" cy="592200"/>
          </a:xfrm>
          <a:prstGeom prst="rect">
            <a:avLst/>
          </a:prstGeom>
          <a:solidFill>
            <a:srgbClr val="C9DAF8"/>
          </a:solid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IN" sz="4000" b="1"/>
              <a:t>Functional And Non-Functional Requirements:</a:t>
            </a:r>
            <a:endParaRPr sz="4000" b="1"/>
          </a:p>
        </p:txBody>
      </p:sp>
      <p:sp>
        <p:nvSpPr>
          <p:cNvPr id="157" name="Google Shape;157;p7"/>
          <p:cNvSpPr txBox="1">
            <a:spLocks noGrp="1"/>
          </p:cNvSpPr>
          <p:nvPr>
            <p:ph type="body" idx="1"/>
          </p:nvPr>
        </p:nvSpPr>
        <p:spPr>
          <a:xfrm>
            <a:off x="301225" y="1161750"/>
            <a:ext cx="5157900" cy="4437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2400"/>
              <a:buNone/>
            </a:pPr>
            <a:r>
              <a:rPr lang="en-IN" u="sng"/>
              <a:t>Functional Requirements</a:t>
            </a:r>
            <a:endParaRPr u="sng"/>
          </a:p>
        </p:txBody>
      </p:sp>
      <p:sp>
        <p:nvSpPr>
          <p:cNvPr id="158" name="Google Shape;158;p7"/>
          <p:cNvSpPr txBox="1">
            <a:spLocks noGrp="1"/>
          </p:cNvSpPr>
          <p:nvPr>
            <p:ph type="body" idx="3"/>
          </p:nvPr>
        </p:nvSpPr>
        <p:spPr>
          <a:xfrm>
            <a:off x="6138708" y="1161750"/>
            <a:ext cx="5183100" cy="4437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2400"/>
              <a:buNone/>
            </a:pPr>
            <a:r>
              <a:rPr lang="en-IN" u="sng"/>
              <a:t>Non-Functional Requirements</a:t>
            </a:r>
            <a:endParaRPr u="sng"/>
          </a:p>
        </p:txBody>
      </p:sp>
      <p:sp>
        <p:nvSpPr>
          <p:cNvPr id="159" name="Google Shape;159;p7"/>
          <p:cNvSpPr txBox="1">
            <a:spLocks noGrp="1"/>
          </p:cNvSpPr>
          <p:nvPr>
            <p:ph type="sldNum" idx="12"/>
          </p:nvPr>
        </p:nvSpPr>
        <p:spPr>
          <a:xfrm>
            <a:off x="8610622" y="583170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9</a:t>
            </a:fld>
            <a:endParaRPr/>
          </a:p>
        </p:txBody>
      </p:sp>
      <p:cxnSp>
        <p:nvCxnSpPr>
          <p:cNvPr id="160" name="Google Shape;160;p7"/>
          <p:cNvCxnSpPr/>
          <p:nvPr/>
        </p:nvCxnSpPr>
        <p:spPr>
          <a:xfrm rot="10800000" flipH="1">
            <a:off x="301250" y="912065"/>
            <a:ext cx="11052600" cy="36000"/>
          </a:xfrm>
          <a:prstGeom prst="straightConnector1">
            <a:avLst/>
          </a:prstGeom>
          <a:noFill/>
          <a:ln w="28575" cap="flat" cmpd="sng">
            <a:solidFill>
              <a:srgbClr val="222A35"/>
            </a:solidFill>
            <a:prstDash val="solid"/>
            <a:miter lim="800000"/>
            <a:headEnd type="none" w="sm" len="sm"/>
            <a:tailEnd type="none" w="sm" len="sm"/>
          </a:ln>
        </p:spPr>
      </p:cxnSp>
      <p:sp>
        <p:nvSpPr>
          <p:cNvPr id="161" name="Google Shape;161;p7"/>
          <p:cNvSpPr txBox="1">
            <a:spLocks noGrp="1"/>
          </p:cNvSpPr>
          <p:nvPr>
            <p:ph type="body" idx="2"/>
          </p:nvPr>
        </p:nvSpPr>
        <p:spPr>
          <a:xfrm>
            <a:off x="426126" y="1692600"/>
            <a:ext cx="5157900" cy="4266000"/>
          </a:xfrm>
          <a:prstGeom prst="rect">
            <a:avLst/>
          </a:prstGeom>
          <a:noFill/>
          <a:ln>
            <a:noFill/>
          </a:ln>
        </p:spPr>
        <p:txBody>
          <a:bodyPr spcFirstLastPara="1" wrap="square" lIns="91425" tIns="45700" rIns="91425" bIns="45700" anchor="t" anchorCtr="0">
            <a:noAutofit/>
          </a:bodyPr>
          <a:lstStyle/>
          <a:p>
            <a:pPr>
              <a:buFont typeface="Wingdings" panose="020B0604020202020204" pitchFamily="34" charset="0"/>
              <a:buChar char="Ø"/>
            </a:pPr>
            <a:r>
              <a:rPr lang="en-US" sz="1800" dirty="0"/>
              <a:t>Collection of historical stock price data from reliable financial sources.</a:t>
            </a:r>
          </a:p>
          <a:p>
            <a:pPr>
              <a:buFont typeface="Wingdings" panose="020B0604020202020204" pitchFamily="34" charset="0"/>
              <a:buChar char="Ø"/>
            </a:pPr>
            <a:r>
              <a:rPr lang="en-US" sz="1800" dirty="0"/>
              <a:t>Collection and preprocessing of financial news and textual data.</a:t>
            </a:r>
          </a:p>
          <a:p>
            <a:pPr>
              <a:buFont typeface="Wingdings" panose="020B0604020202020204" pitchFamily="34" charset="0"/>
              <a:buChar char="Ø"/>
            </a:pPr>
            <a:r>
              <a:rPr lang="en-US" sz="1800" dirty="0"/>
              <a:t>Time-series feature extraction using GRU model.</a:t>
            </a:r>
          </a:p>
          <a:p>
            <a:pPr>
              <a:buFont typeface="Wingdings" panose="020B0604020202020204" pitchFamily="34" charset="0"/>
              <a:buChar char="Ø"/>
            </a:pPr>
            <a:r>
              <a:rPr lang="en-US" sz="1800" dirty="0"/>
              <a:t>Text feature extraction using BERT model.</a:t>
            </a:r>
          </a:p>
          <a:p>
            <a:pPr>
              <a:buFont typeface="Wingdings" panose="020B0604020202020204" pitchFamily="34" charset="0"/>
              <a:buChar char="Ø"/>
            </a:pPr>
            <a:r>
              <a:rPr lang="en-US" sz="1800" dirty="0"/>
              <a:t>Integration of numerical and textual features using Hybrid Information Mixing Module.</a:t>
            </a:r>
          </a:p>
          <a:p>
            <a:pPr>
              <a:buFont typeface="Wingdings" panose="020B0604020202020204" pitchFamily="34" charset="0"/>
              <a:buChar char="Ø"/>
            </a:pPr>
            <a:r>
              <a:rPr lang="en-US" sz="1800" dirty="0"/>
              <a:t>Prediction of stock movement (Up/Down classification).</a:t>
            </a:r>
          </a:p>
          <a:p>
            <a:pPr>
              <a:buFont typeface="Wingdings" panose="020B0604020202020204" pitchFamily="34" charset="0"/>
              <a:buChar char="Ø"/>
            </a:pPr>
            <a:r>
              <a:rPr lang="en-US" sz="1800" dirty="0"/>
              <a:t>Performance evaluation using Accuracy, F1-Score, and MCC metrics.</a:t>
            </a:r>
          </a:p>
        </p:txBody>
      </p:sp>
      <p:sp>
        <p:nvSpPr>
          <p:cNvPr id="162" name="Google Shape;162;p7"/>
          <p:cNvSpPr txBox="1">
            <a:spLocks noGrp="1"/>
          </p:cNvSpPr>
          <p:nvPr>
            <p:ph type="body" idx="4"/>
          </p:nvPr>
        </p:nvSpPr>
        <p:spPr>
          <a:xfrm>
            <a:off x="6138708" y="1692600"/>
            <a:ext cx="5183100" cy="4504200"/>
          </a:xfrm>
          <a:prstGeom prst="rect">
            <a:avLst/>
          </a:prstGeom>
          <a:noFill/>
          <a:ln>
            <a:noFill/>
          </a:ln>
        </p:spPr>
        <p:txBody>
          <a:bodyPr spcFirstLastPara="1" wrap="square" lIns="91425" tIns="45700" rIns="91425" bIns="45700" anchor="t" anchorCtr="0">
            <a:noAutofit/>
          </a:bodyPr>
          <a:lstStyle/>
          <a:p>
            <a:pPr>
              <a:buFont typeface="Wingdings" panose="020B0604020202020204" pitchFamily="34" charset="0"/>
              <a:buChar char="Ø"/>
            </a:pPr>
            <a:r>
              <a:rPr lang="en-IN" sz="1800" dirty="0"/>
              <a:t>High prediction accuracy and reliable forecasting results.</a:t>
            </a:r>
            <a:endParaRPr lang="en-US" sz="1800" dirty="0"/>
          </a:p>
          <a:p>
            <a:pPr>
              <a:buFont typeface="Wingdings" panose="020B0604020202020204" pitchFamily="34" charset="0"/>
              <a:buChar char="Ø"/>
            </a:pPr>
            <a:r>
              <a:rPr lang="en-IN" sz="1800" dirty="0"/>
              <a:t>Efficient model training and reduced computational complexity.</a:t>
            </a:r>
          </a:p>
          <a:p>
            <a:pPr>
              <a:buFont typeface="Wingdings" panose="020B0604020202020204" pitchFamily="34" charset="0"/>
              <a:buChar char="Ø"/>
            </a:pPr>
            <a:r>
              <a:rPr lang="en-IN" sz="1800" dirty="0"/>
              <a:t>Scalable architecture to handle large financial datasets.</a:t>
            </a:r>
          </a:p>
          <a:p>
            <a:pPr>
              <a:buFont typeface="Wingdings" panose="020B0604020202020204" pitchFamily="34" charset="0"/>
              <a:buChar char="Ø"/>
            </a:pPr>
            <a:r>
              <a:rPr lang="en-IN" sz="1800" dirty="0"/>
              <a:t>Secure and reliable data handling.</a:t>
            </a:r>
          </a:p>
          <a:p>
            <a:pPr>
              <a:buFont typeface="Wingdings" panose="020B0604020202020204" pitchFamily="34" charset="0"/>
              <a:buChar char="Ø"/>
            </a:pPr>
            <a:r>
              <a:rPr lang="en-IN" sz="1800" dirty="0"/>
              <a:t>Modular and maintainable system design.</a:t>
            </a:r>
          </a:p>
          <a:p>
            <a:pPr>
              <a:buFont typeface="Wingdings" panose="020B0604020202020204" pitchFamily="34" charset="0"/>
              <a:buChar char="Ø"/>
            </a:pPr>
            <a:r>
              <a:rPr lang="en-IN" sz="1800" dirty="0"/>
              <a:t>Fast processing for near real-time prediction capability.</a:t>
            </a:r>
          </a:p>
          <a:p>
            <a:pPr>
              <a:buFont typeface="Wingdings" panose="020B0604020202020204" pitchFamily="34" charset="0"/>
              <a:buChar char="Ø"/>
            </a:pPr>
            <a:endParaRPr lang="en-IN" sz="1800" dirty="0"/>
          </a:p>
        </p:txBody>
      </p:sp>
      <p:sp>
        <p:nvSpPr>
          <p:cNvPr id="3" name="Footer Placeholder 1">
            <a:extLst>
              <a:ext uri="{FF2B5EF4-FFF2-40B4-BE49-F238E27FC236}">
                <a16:creationId xmlns:a16="http://schemas.microsoft.com/office/drawing/2014/main" id="{973DD290-30ED-1ECA-8E17-02221E2BA0A4}"/>
              </a:ext>
            </a:extLst>
          </p:cNvPr>
          <p:cNvSpPr>
            <a:spLocks noGrp="1"/>
          </p:cNvSpPr>
          <p:nvPr/>
        </p:nvSpPr>
        <p:spPr>
          <a:xfrm>
            <a:off x="2750731" y="6024972"/>
            <a:ext cx="6690538" cy="770701"/>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III </a:t>
            </a:r>
            <a:r>
              <a:rPr lang="en-US" dirty="0" err="1"/>
              <a:t>B.Tech</a:t>
            </a:r>
            <a:r>
              <a:rPr lang="en-US" dirty="0"/>
              <a:t> (CSE-D) Industrial Oriented Mini Project (IOMP) Presentation Review-2,</a:t>
            </a:r>
          </a:p>
          <a:p>
            <a:r>
              <a:rPr lang="en-US" dirty="0"/>
              <a:t> CSE Dept, CVR college of Engineering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8"/>
          <p:cNvSpPr txBox="1">
            <a:spLocks noGrp="1"/>
          </p:cNvSpPr>
          <p:nvPr>
            <p:ph type="title"/>
          </p:nvPr>
        </p:nvSpPr>
        <p:spPr>
          <a:xfrm>
            <a:off x="434100" y="374550"/>
            <a:ext cx="11052600" cy="570900"/>
          </a:xfrm>
          <a:prstGeom prst="rect">
            <a:avLst/>
          </a:prstGeom>
          <a:solidFill>
            <a:srgbClr val="C9DAF8"/>
          </a:solid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Times New Roman"/>
              <a:buNone/>
            </a:pPr>
            <a:r>
              <a:rPr lang="en-IN" sz="4000" b="1">
                <a:solidFill>
                  <a:schemeClr val="dk1"/>
                </a:solidFill>
              </a:rPr>
              <a:t>Hardware &amp; Software Requirements</a:t>
            </a:r>
            <a:endParaRPr sz="4000" b="1">
              <a:solidFill>
                <a:schemeClr val="dk1"/>
              </a:solidFill>
            </a:endParaRPr>
          </a:p>
        </p:txBody>
      </p:sp>
      <p:sp>
        <p:nvSpPr>
          <p:cNvPr id="168" name="Google Shape;168;p8"/>
          <p:cNvSpPr txBox="1">
            <a:spLocks noGrp="1"/>
          </p:cNvSpPr>
          <p:nvPr>
            <p:ph type="body" idx="1"/>
          </p:nvPr>
        </p:nvSpPr>
        <p:spPr>
          <a:xfrm>
            <a:off x="483550" y="1099875"/>
            <a:ext cx="5157900" cy="473100"/>
          </a:xfrm>
          <a:prstGeom prst="rect">
            <a:avLst/>
          </a:prstGeom>
          <a:noFill/>
          <a:ln>
            <a:noFill/>
          </a:ln>
        </p:spPr>
        <p:txBody>
          <a:bodyPr spcFirstLastPara="1" wrap="square" lIns="91425" tIns="45700" rIns="91425" bIns="45700" anchor="b" anchorCtr="0">
            <a:normAutofit lnSpcReduction="10000"/>
          </a:bodyPr>
          <a:lstStyle/>
          <a:p>
            <a:pPr marL="0" lvl="0" indent="0" algn="l" rtl="0">
              <a:lnSpc>
                <a:spcPct val="90000"/>
              </a:lnSpc>
              <a:spcBef>
                <a:spcPts val="0"/>
              </a:spcBef>
              <a:spcAft>
                <a:spcPts val="0"/>
              </a:spcAft>
              <a:buClr>
                <a:schemeClr val="dk1"/>
              </a:buClr>
              <a:buSzPts val="3200"/>
              <a:buNone/>
            </a:pPr>
            <a:r>
              <a:rPr lang="en-IN" sz="2800" u="sng"/>
              <a:t>Hardware Requirements</a:t>
            </a:r>
            <a:endParaRPr sz="2800" u="sng"/>
          </a:p>
        </p:txBody>
      </p:sp>
      <p:sp>
        <p:nvSpPr>
          <p:cNvPr id="169" name="Google Shape;169;p8"/>
          <p:cNvSpPr txBox="1">
            <a:spLocks noGrp="1"/>
          </p:cNvSpPr>
          <p:nvPr>
            <p:ph type="body" idx="2"/>
          </p:nvPr>
        </p:nvSpPr>
        <p:spPr>
          <a:xfrm>
            <a:off x="483550" y="1727396"/>
            <a:ext cx="5476800" cy="4755900"/>
          </a:xfrm>
          <a:prstGeom prst="rect">
            <a:avLst/>
          </a:prstGeom>
          <a:noFill/>
          <a:ln>
            <a:noFill/>
          </a:ln>
        </p:spPr>
        <p:txBody>
          <a:bodyPr spcFirstLastPara="1" wrap="square" lIns="91425" tIns="45700" rIns="91425" bIns="45700" anchor="t" anchorCtr="0">
            <a:noAutofit/>
          </a:bodyPr>
          <a:lstStyle/>
          <a:p>
            <a:pPr marL="0" indent="0">
              <a:buNone/>
            </a:pPr>
            <a:r>
              <a:rPr lang="en-IN" sz="2400" dirty="0"/>
              <a:t>➤ System with minimum </a:t>
            </a:r>
            <a:r>
              <a:rPr lang="en-IN" sz="2400" b="1" dirty="0"/>
              <a:t>4 GB RAM</a:t>
            </a:r>
            <a:r>
              <a:rPr lang="en-IN" sz="2400" dirty="0"/>
              <a:t> (8 GB recommended for better deep learning performance)</a:t>
            </a:r>
          </a:p>
          <a:p>
            <a:pPr marL="0" indent="0">
              <a:buNone/>
            </a:pPr>
            <a:r>
              <a:rPr lang="en-IN" sz="2400" dirty="0"/>
              <a:t>➤ Intel i5 processor or higher for efficient model training and execution</a:t>
            </a:r>
          </a:p>
          <a:p>
            <a:pPr marL="0" indent="0">
              <a:buNone/>
            </a:pPr>
            <a:r>
              <a:rPr lang="en-IN" sz="2400" dirty="0"/>
              <a:t>➤ Minimum 500 MB free disk space</a:t>
            </a:r>
          </a:p>
          <a:p>
            <a:pPr marL="0" indent="0">
              <a:buNone/>
            </a:pPr>
            <a:r>
              <a:rPr lang="en-IN" sz="2400" dirty="0"/>
              <a:t>➤ Stable internet connection (for downloading financial data and BERT models)</a:t>
            </a:r>
          </a:p>
          <a:p>
            <a:pPr marL="0" indent="0">
              <a:buNone/>
            </a:pPr>
            <a:r>
              <a:rPr lang="en-IN" sz="2400" dirty="0"/>
              <a:t>➤ Optional: GPU support for faster training of GRU and BERT models</a:t>
            </a:r>
          </a:p>
        </p:txBody>
      </p:sp>
      <p:sp>
        <p:nvSpPr>
          <p:cNvPr id="170" name="Google Shape;170;p8"/>
          <p:cNvSpPr txBox="1">
            <a:spLocks noGrp="1"/>
          </p:cNvSpPr>
          <p:nvPr>
            <p:ph type="body" idx="3"/>
          </p:nvPr>
        </p:nvSpPr>
        <p:spPr>
          <a:xfrm>
            <a:off x="6135050" y="1099879"/>
            <a:ext cx="5183100" cy="473100"/>
          </a:xfrm>
          <a:prstGeom prst="rect">
            <a:avLst/>
          </a:prstGeom>
          <a:noFill/>
          <a:ln>
            <a:noFill/>
          </a:ln>
        </p:spPr>
        <p:txBody>
          <a:bodyPr spcFirstLastPara="1" wrap="square" lIns="91425" tIns="45700" rIns="91425" bIns="45700" anchor="b" anchorCtr="0">
            <a:normAutofit lnSpcReduction="10000"/>
          </a:bodyPr>
          <a:lstStyle/>
          <a:p>
            <a:pPr marL="0" lvl="0" indent="0" algn="l" rtl="0">
              <a:lnSpc>
                <a:spcPct val="90000"/>
              </a:lnSpc>
              <a:spcBef>
                <a:spcPts val="0"/>
              </a:spcBef>
              <a:spcAft>
                <a:spcPts val="0"/>
              </a:spcAft>
              <a:buClr>
                <a:schemeClr val="dk1"/>
              </a:buClr>
              <a:buSzPts val="3200"/>
              <a:buNone/>
            </a:pPr>
            <a:r>
              <a:rPr lang="en-IN" sz="2800" u="sng"/>
              <a:t>Software Requirements</a:t>
            </a:r>
            <a:endParaRPr sz="2800" u="sng"/>
          </a:p>
        </p:txBody>
      </p:sp>
      <p:sp>
        <p:nvSpPr>
          <p:cNvPr id="171" name="Google Shape;171;p8"/>
          <p:cNvSpPr txBox="1">
            <a:spLocks noGrp="1"/>
          </p:cNvSpPr>
          <p:nvPr>
            <p:ph type="body" idx="4"/>
          </p:nvPr>
        </p:nvSpPr>
        <p:spPr>
          <a:xfrm>
            <a:off x="6135050" y="1691395"/>
            <a:ext cx="5357700" cy="5030100"/>
          </a:xfrm>
          <a:prstGeom prst="rect">
            <a:avLst/>
          </a:prstGeom>
          <a:noFill/>
          <a:ln>
            <a:noFill/>
          </a:ln>
        </p:spPr>
        <p:txBody>
          <a:bodyPr spcFirstLastPara="1" wrap="square" lIns="91425" tIns="45700" rIns="91425" bIns="45700" anchor="t" anchorCtr="0">
            <a:noAutofit/>
          </a:bodyPr>
          <a:lstStyle/>
          <a:p>
            <a:pPr marL="0" indent="0">
              <a:buNone/>
            </a:pPr>
            <a:r>
              <a:rPr lang="en-IN" sz="2400" dirty="0"/>
              <a:t>➤ Programming </a:t>
            </a:r>
            <a:r>
              <a:rPr lang="en-IN" sz="2400" dirty="0" err="1"/>
              <a:t>Language:Python</a:t>
            </a:r>
            <a:endParaRPr lang="en-IN" sz="2400" b="1" dirty="0"/>
          </a:p>
          <a:p>
            <a:pPr marL="0" indent="0">
              <a:buNone/>
            </a:pPr>
            <a:r>
              <a:rPr lang="en-IN" sz="2400" dirty="0"/>
              <a:t>➤ Data Processing: NumPy, Pandas</a:t>
            </a:r>
          </a:p>
          <a:p>
            <a:pPr marL="0" indent="0">
              <a:buNone/>
            </a:pPr>
            <a:r>
              <a:rPr lang="en-IN" sz="2400" dirty="0"/>
              <a:t>➤ Machine Learning: Scikit-learn</a:t>
            </a:r>
          </a:p>
          <a:p>
            <a:pPr marL="0" indent="0">
              <a:buNone/>
            </a:pPr>
            <a:r>
              <a:rPr lang="en-IN" sz="2400" dirty="0"/>
              <a:t>➤ Deep Learning: TensorFlow / </a:t>
            </a:r>
            <a:r>
              <a:rPr lang="en-IN" sz="2400" dirty="0" err="1"/>
              <a:t>PyTorch</a:t>
            </a:r>
            <a:endParaRPr lang="en-IN" sz="2400" dirty="0"/>
          </a:p>
          <a:p>
            <a:pPr marL="0" indent="0">
              <a:buNone/>
            </a:pPr>
            <a:r>
              <a:rPr lang="en-IN" sz="2400" dirty="0"/>
              <a:t>➤ NLP Module: </a:t>
            </a:r>
            <a:r>
              <a:rPr lang="en-IN" sz="2400" dirty="0" err="1"/>
              <a:t>HuggingFace</a:t>
            </a:r>
            <a:r>
              <a:rPr lang="en-IN" sz="2400" dirty="0"/>
              <a:t> Transformers (BERT)</a:t>
            </a:r>
            <a:endParaRPr lang="en-IN" sz="2400" dirty="0">
              <a:solidFill>
                <a:srgbClr val="000000"/>
              </a:solidFill>
              <a:ea typeface="+mn-lt"/>
              <a:cs typeface="+mn-lt"/>
            </a:endParaRPr>
          </a:p>
          <a:p>
            <a:pPr marL="0" indent="0">
              <a:buNone/>
            </a:pPr>
            <a:r>
              <a:rPr lang="en-IN" sz="2400" dirty="0"/>
              <a:t>➤ Visualization: Matplotlib / Seaborn</a:t>
            </a:r>
          </a:p>
        </p:txBody>
      </p:sp>
      <p:sp>
        <p:nvSpPr>
          <p:cNvPr id="172" name="Google Shape;172;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en-IN" sz="1600" b="1"/>
              <a:t>10</a:t>
            </a:fld>
            <a:endParaRPr sz="1600" b="1"/>
          </a:p>
        </p:txBody>
      </p:sp>
      <p:cxnSp>
        <p:nvCxnSpPr>
          <p:cNvPr id="173" name="Google Shape;173;p8"/>
          <p:cNvCxnSpPr/>
          <p:nvPr/>
        </p:nvCxnSpPr>
        <p:spPr>
          <a:xfrm rot="10800000" flipH="1">
            <a:off x="434100" y="945454"/>
            <a:ext cx="11052600" cy="36000"/>
          </a:xfrm>
          <a:prstGeom prst="straightConnector1">
            <a:avLst/>
          </a:prstGeom>
          <a:noFill/>
          <a:ln w="28575" cap="flat" cmpd="sng">
            <a:solidFill>
              <a:srgbClr val="222A35"/>
            </a:solidFill>
            <a:prstDash val="solid"/>
            <a:miter lim="800000"/>
            <a:headEnd type="none" w="sm" len="sm"/>
            <a:tailEnd type="none" w="sm" len="sm"/>
          </a:ln>
        </p:spPr>
      </p:cxnSp>
      <p:sp>
        <p:nvSpPr>
          <p:cNvPr id="3" name="Footer Placeholder 1">
            <a:extLst>
              <a:ext uri="{FF2B5EF4-FFF2-40B4-BE49-F238E27FC236}">
                <a16:creationId xmlns:a16="http://schemas.microsoft.com/office/drawing/2014/main" id="{EAAE24CC-0FFF-68B9-1DA2-82BD9A08032E}"/>
              </a:ext>
            </a:extLst>
          </p:cNvPr>
          <p:cNvSpPr>
            <a:spLocks noGrp="1"/>
          </p:cNvSpPr>
          <p:nvPr/>
        </p:nvSpPr>
        <p:spPr>
          <a:xfrm>
            <a:off x="2750731" y="6024972"/>
            <a:ext cx="6690538" cy="770701"/>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III </a:t>
            </a:r>
            <a:r>
              <a:rPr lang="en-US" dirty="0" err="1"/>
              <a:t>B.Tech</a:t>
            </a:r>
            <a:r>
              <a:rPr lang="en-US" dirty="0"/>
              <a:t> (CSE-D) Industrial Oriented Mini Project (IOMP) Presentation Review-2,</a:t>
            </a:r>
          </a:p>
          <a:p>
            <a:r>
              <a:rPr lang="en-US" dirty="0"/>
              <a:t> CSE Dept, CVR college of Engineering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9"/>
          <p:cNvSpPr txBox="1">
            <a:spLocks noGrp="1"/>
          </p:cNvSpPr>
          <p:nvPr>
            <p:ph type="title"/>
          </p:nvPr>
        </p:nvSpPr>
        <p:spPr>
          <a:xfrm>
            <a:off x="301250" y="263675"/>
            <a:ext cx="11052600" cy="494400"/>
          </a:xfrm>
          <a:prstGeom prst="rect">
            <a:avLst/>
          </a:prstGeom>
          <a:solidFill>
            <a:srgbClr val="C9DAF8"/>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2800"/>
              <a:buFont typeface="Times New Roman"/>
              <a:buNone/>
            </a:pPr>
            <a:r>
              <a:rPr lang="en-IN" sz="3600" b="1" dirty="0">
                <a:solidFill>
                  <a:schemeClr val="dk1"/>
                </a:solidFill>
              </a:rPr>
              <a:t>Proposed Methodology</a:t>
            </a:r>
            <a:endParaRPr sz="3600" b="1" dirty="0">
              <a:solidFill>
                <a:schemeClr val="dk1"/>
              </a:solidFill>
            </a:endParaRPr>
          </a:p>
        </p:txBody>
      </p:sp>
      <p:cxnSp>
        <p:nvCxnSpPr>
          <p:cNvPr id="179" name="Google Shape;179;p9"/>
          <p:cNvCxnSpPr/>
          <p:nvPr/>
        </p:nvCxnSpPr>
        <p:spPr>
          <a:xfrm rot="10800000" flipH="1">
            <a:off x="301250" y="758079"/>
            <a:ext cx="11052600" cy="36000"/>
          </a:xfrm>
          <a:prstGeom prst="straightConnector1">
            <a:avLst/>
          </a:prstGeom>
          <a:noFill/>
          <a:ln w="28575" cap="flat" cmpd="sng">
            <a:solidFill>
              <a:srgbClr val="222A35"/>
            </a:solidFill>
            <a:prstDash val="solid"/>
            <a:miter lim="800000"/>
            <a:headEnd type="none" w="sm" len="sm"/>
            <a:tailEnd type="none" w="sm" len="sm"/>
          </a:ln>
        </p:spPr>
      </p:cxnSp>
      <p:sp>
        <p:nvSpPr>
          <p:cNvPr id="180" name="Google Shape;18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en-IN" sz="1600" b="1"/>
              <a:t>11</a:t>
            </a:fld>
            <a:endParaRPr sz="1600" b="1"/>
          </a:p>
        </p:txBody>
      </p:sp>
      <p:sp>
        <p:nvSpPr>
          <p:cNvPr id="181" name="Google Shape;181;p9"/>
          <p:cNvSpPr txBox="1">
            <a:spLocks noGrp="1"/>
          </p:cNvSpPr>
          <p:nvPr>
            <p:ph type="body" idx="1"/>
          </p:nvPr>
        </p:nvSpPr>
        <p:spPr>
          <a:xfrm>
            <a:off x="344900" y="963600"/>
            <a:ext cx="10965300" cy="5894400"/>
          </a:xfrm>
          <a:prstGeom prst="rect">
            <a:avLst/>
          </a:prstGeom>
          <a:noFill/>
          <a:ln>
            <a:noFill/>
          </a:ln>
        </p:spPr>
        <p:txBody>
          <a:bodyPr spcFirstLastPara="1" wrap="square" lIns="91425" tIns="45700" rIns="91425" bIns="45700" anchor="t" anchorCtr="0">
            <a:noAutofit/>
          </a:bodyPr>
          <a:lstStyle/>
          <a:p>
            <a:pPr>
              <a:buFont typeface="Wingdings" panose="020B0604020202020204" pitchFamily="34" charset="0"/>
              <a:buChar char="§"/>
            </a:pPr>
            <a:r>
              <a:rPr lang="en-US" sz="2400" dirty="0"/>
              <a:t>Collect historical stock price data and financial text data (news/social media).</a:t>
            </a:r>
          </a:p>
          <a:p>
            <a:pPr>
              <a:buFont typeface="Wingdings" panose="020B0604020202020204" pitchFamily="34" charset="0"/>
              <a:buChar char="§"/>
            </a:pPr>
            <a:r>
              <a:rPr lang="en-US" sz="2400" dirty="0"/>
              <a:t>Preprocess data by cleaning, normalizing numerical values, and preparing text    inputs.</a:t>
            </a:r>
          </a:p>
          <a:p>
            <a:pPr>
              <a:buFont typeface="Wingdings"/>
              <a:buChar char="§"/>
            </a:pPr>
            <a:r>
              <a:rPr lang="en-US" sz="2400" dirty="0"/>
              <a:t>Extract time-series features using </a:t>
            </a:r>
            <a:r>
              <a:rPr lang="en-US" sz="2400" b="1" dirty="0"/>
              <a:t>GRU</a:t>
            </a:r>
            <a:r>
              <a:rPr lang="en-US" sz="2400" dirty="0"/>
              <a:t> to capture stock price patterns.</a:t>
            </a:r>
          </a:p>
          <a:p>
            <a:pPr>
              <a:buFont typeface="Wingdings"/>
              <a:buChar char="§"/>
            </a:pPr>
            <a:r>
              <a:rPr lang="en-US" sz="2400" dirty="0"/>
              <a:t>Extract semantic features using </a:t>
            </a:r>
            <a:r>
              <a:rPr lang="en-US" sz="2400" b="1" dirty="0"/>
              <a:t>BERT</a:t>
            </a:r>
            <a:r>
              <a:rPr lang="en-US" sz="2400" dirty="0"/>
              <a:t> to understand financial text context.</a:t>
            </a:r>
          </a:p>
          <a:p>
            <a:pPr>
              <a:buFont typeface="Wingdings" panose="020B0604020202020204" pitchFamily="34" charset="0"/>
              <a:buChar char="§"/>
            </a:pPr>
            <a:r>
              <a:rPr lang="en-US" sz="2400" dirty="0"/>
              <a:t>Combine both features using a </a:t>
            </a:r>
            <a:r>
              <a:rPr lang="en-US" sz="2400" b="1" dirty="0"/>
              <a:t>Hybrid Information Mixing Module (MLPs)</a:t>
            </a:r>
            <a:r>
              <a:rPr lang="en-US" sz="2400" dirty="0"/>
              <a:t> to  improve interaction between numerical and textual data.</a:t>
            </a:r>
          </a:p>
          <a:p>
            <a:pPr>
              <a:buFont typeface="Wingdings" panose="020B0604020202020204" pitchFamily="34" charset="0"/>
              <a:buChar char="§"/>
            </a:pPr>
            <a:r>
              <a:rPr lang="en-US" sz="2400" dirty="0"/>
              <a:t>Use a prediction layer to classify stock movement as </a:t>
            </a:r>
            <a:r>
              <a:rPr lang="en-US" sz="2400" b="1" dirty="0"/>
              <a:t>Upward or Downward</a:t>
            </a:r>
            <a:r>
              <a:rPr lang="en-US" sz="2400" dirty="0"/>
              <a:t>.</a:t>
            </a:r>
          </a:p>
          <a:p>
            <a:pPr>
              <a:buFont typeface="Wingdings" panose="020B0604020202020204" pitchFamily="34" charset="0"/>
              <a:buChar char="§"/>
            </a:pPr>
            <a:r>
              <a:rPr lang="en-US" sz="2400" dirty="0"/>
              <a:t>Evaluate model performance using </a:t>
            </a:r>
            <a:r>
              <a:rPr lang="en-US" sz="2400" b="1" dirty="0"/>
              <a:t>Accuracy, F1-Score, and MCC</a:t>
            </a:r>
            <a:endParaRPr lang="en-US" sz="2400" dirty="0"/>
          </a:p>
        </p:txBody>
      </p:sp>
      <p:sp>
        <p:nvSpPr>
          <p:cNvPr id="6" name="Footer Placeholder 1">
            <a:extLst>
              <a:ext uri="{FF2B5EF4-FFF2-40B4-BE49-F238E27FC236}">
                <a16:creationId xmlns:a16="http://schemas.microsoft.com/office/drawing/2014/main" id="{B69036B8-DB41-73B7-D271-9C439EE486C5}"/>
              </a:ext>
            </a:extLst>
          </p:cNvPr>
          <p:cNvSpPr>
            <a:spLocks noGrp="1"/>
          </p:cNvSpPr>
          <p:nvPr/>
        </p:nvSpPr>
        <p:spPr>
          <a:xfrm>
            <a:off x="2750731" y="6024972"/>
            <a:ext cx="6690538" cy="770701"/>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III </a:t>
            </a:r>
            <a:r>
              <a:rPr lang="en-US" dirty="0" err="1"/>
              <a:t>B.Tech</a:t>
            </a:r>
            <a:r>
              <a:rPr lang="en-US" dirty="0"/>
              <a:t> (CSE-D) Industrial Oriented Mini Project (IOMP) Presentation Review-2,</a:t>
            </a:r>
          </a:p>
          <a:p>
            <a:r>
              <a:rPr lang="en-US" dirty="0"/>
              <a:t> CSE Dept, CVR college of Engineering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g3958a9180db_0_1"/>
          <p:cNvSpPr txBox="1">
            <a:spLocks noGrp="1"/>
          </p:cNvSpPr>
          <p:nvPr>
            <p:ph type="title"/>
          </p:nvPr>
        </p:nvSpPr>
        <p:spPr>
          <a:xfrm>
            <a:off x="0" y="0"/>
            <a:ext cx="12192000" cy="4728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77777"/>
              <a:buFont typeface="Times New Roman"/>
              <a:buNone/>
            </a:pPr>
            <a:r>
              <a:rPr lang="en-IN" sz="3600" b="1" dirty="0"/>
              <a:t>System Architecture </a:t>
            </a:r>
            <a:endParaRPr sz="3600" dirty="0"/>
          </a:p>
        </p:txBody>
      </p:sp>
      <p:sp>
        <p:nvSpPr>
          <p:cNvPr id="188" name="Google Shape;188;g3958a9180db_0_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IN"/>
              <a:t>12</a:t>
            </a:fld>
            <a:endParaRPr/>
          </a:p>
        </p:txBody>
      </p:sp>
      <p:pic>
        <p:nvPicPr>
          <p:cNvPr id="3" name="Graphic 2">
            <a:extLst>
              <a:ext uri="{FF2B5EF4-FFF2-40B4-BE49-F238E27FC236}">
                <a16:creationId xmlns:a16="http://schemas.microsoft.com/office/drawing/2014/main" id="{5C2216DF-46A7-DE73-4843-6BB4481CE61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23253" y="341630"/>
            <a:ext cx="5287347" cy="6014720"/>
          </a:xfrm>
          <a:prstGeom prst="rect">
            <a:avLst/>
          </a:prstGeom>
        </p:spPr>
      </p:pic>
      <p:pic>
        <p:nvPicPr>
          <p:cNvPr id="4" name="Picture 3">
            <a:extLst>
              <a:ext uri="{FF2B5EF4-FFF2-40B4-BE49-F238E27FC236}">
                <a16:creationId xmlns:a16="http://schemas.microsoft.com/office/drawing/2014/main" id="{37EDA23B-C84D-A406-1B6B-18FA8FCF53A7}"/>
              </a:ext>
            </a:extLst>
          </p:cNvPr>
          <p:cNvPicPr/>
          <p:nvPr/>
        </p:nvPicPr>
        <p:blipFill>
          <a:blip r:embed="rId5"/>
          <a:stretch>
            <a:fillRect/>
          </a:stretch>
        </p:blipFill>
        <p:spPr>
          <a:xfrm>
            <a:off x="2926080" y="472800"/>
            <a:ext cx="6929120" cy="588354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g386cf6a2822_0_2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en-IN" sz="1600" b="1"/>
              <a:t>13</a:t>
            </a:fld>
            <a:endParaRPr sz="1600" b="1"/>
          </a:p>
        </p:txBody>
      </p:sp>
      <p:sp>
        <p:nvSpPr>
          <p:cNvPr id="203" name="Google Shape;203;g386cf6a2822_0_29"/>
          <p:cNvSpPr txBox="1">
            <a:spLocks noGrp="1"/>
          </p:cNvSpPr>
          <p:nvPr>
            <p:ph type="title"/>
          </p:nvPr>
        </p:nvSpPr>
        <p:spPr>
          <a:xfrm>
            <a:off x="168650" y="3181800"/>
            <a:ext cx="3485100" cy="4944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Times New Roman"/>
              <a:buNone/>
            </a:pPr>
            <a:r>
              <a:rPr lang="en-IN" sz="2800" b="1"/>
              <a:t>Use Cases Diagram</a:t>
            </a:r>
            <a:endParaRPr sz="2800" b="1">
              <a:solidFill>
                <a:schemeClr val="dk1"/>
              </a:solidFill>
            </a:endParaRPr>
          </a:p>
        </p:txBody>
      </p:sp>
      <p:pic>
        <p:nvPicPr>
          <p:cNvPr id="3" name="Picture 2">
            <a:extLst>
              <a:ext uri="{FF2B5EF4-FFF2-40B4-BE49-F238E27FC236}">
                <a16:creationId xmlns:a16="http://schemas.microsoft.com/office/drawing/2014/main" id="{EA02990C-5A72-5C3A-6088-B364F2E7F0C4}"/>
              </a:ext>
            </a:extLst>
          </p:cNvPr>
          <p:cNvPicPr>
            <a:picLocks noChangeAspect="1"/>
          </p:cNvPicPr>
          <p:nvPr/>
        </p:nvPicPr>
        <p:blipFill>
          <a:blip r:embed="rId3"/>
          <a:stretch>
            <a:fillRect/>
          </a:stretch>
        </p:blipFill>
        <p:spPr>
          <a:xfrm>
            <a:off x="3446830" y="395348"/>
            <a:ext cx="8745170" cy="557290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g386cf6a2822_0_3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en-IN" sz="1600" b="1"/>
              <a:t>14</a:t>
            </a:fld>
            <a:endParaRPr sz="1600" b="1"/>
          </a:p>
        </p:txBody>
      </p:sp>
      <p:sp>
        <p:nvSpPr>
          <p:cNvPr id="210" name="Google Shape;210;g386cf6a2822_0_38"/>
          <p:cNvSpPr txBox="1">
            <a:spLocks noGrp="1"/>
          </p:cNvSpPr>
          <p:nvPr>
            <p:ph type="title"/>
          </p:nvPr>
        </p:nvSpPr>
        <p:spPr>
          <a:xfrm>
            <a:off x="0" y="0"/>
            <a:ext cx="3485100" cy="4944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Times New Roman"/>
              <a:buNone/>
            </a:pPr>
            <a:r>
              <a:rPr lang="en-IN" sz="2800" b="1"/>
              <a:t>Class Diagram</a:t>
            </a:r>
            <a:endParaRPr sz="2800" b="1">
              <a:solidFill>
                <a:schemeClr val="dk1"/>
              </a:solidFill>
            </a:endParaRPr>
          </a:p>
        </p:txBody>
      </p:sp>
      <p:pic>
        <p:nvPicPr>
          <p:cNvPr id="3" name="Picture 2">
            <a:extLst>
              <a:ext uri="{FF2B5EF4-FFF2-40B4-BE49-F238E27FC236}">
                <a16:creationId xmlns:a16="http://schemas.microsoft.com/office/drawing/2014/main" id="{2340363B-E75F-98DA-6A5F-54716F3AF30F}"/>
              </a:ext>
            </a:extLst>
          </p:cNvPr>
          <p:cNvPicPr>
            <a:picLocks noChangeAspect="1"/>
          </p:cNvPicPr>
          <p:nvPr/>
        </p:nvPicPr>
        <p:blipFill>
          <a:blip r:embed="rId3"/>
          <a:stretch>
            <a:fillRect/>
          </a:stretch>
        </p:blipFill>
        <p:spPr>
          <a:xfrm>
            <a:off x="570729" y="1042676"/>
            <a:ext cx="11050542" cy="477264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g386cf6a2822_0_4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en-IN" sz="1600" b="1"/>
              <a:t>15</a:t>
            </a:fld>
            <a:endParaRPr sz="1600" b="1"/>
          </a:p>
        </p:txBody>
      </p:sp>
      <p:sp>
        <p:nvSpPr>
          <p:cNvPr id="217" name="Google Shape;217;g386cf6a2822_0_45"/>
          <p:cNvSpPr txBox="1">
            <a:spLocks noGrp="1"/>
          </p:cNvSpPr>
          <p:nvPr>
            <p:ph type="title"/>
          </p:nvPr>
        </p:nvSpPr>
        <p:spPr>
          <a:xfrm>
            <a:off x="0" y="187375"/>
            <a:ext cx="6689400" cy="4944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Times New Roman"/>
              <a:buNone/>
            </a:pPr>
            <a:r>
              <a:rPr lang="en-IN" sz="2800" b="1" dirty="0"/>
              <a:t>Sequence Diagram </a:t>
            </a:r>
            <a:endParaRPr sz="2800" b="1" dirty="0">
              <a:solidFill>
                <a:schemeClr val="dk1"/>
              </a:solidFill>
            </a:endParaRPr>
          </a:p>
        </p:txBody>
      </p:sp>
      <p:pic>
        <p:nvPicPr>
          <p:cNvPr id="3" name="Picture 2">
            <a:extLst>
              <a:ext uri="{FF2B5EF4-FFF2-40B4-BE49-F238E27FC236}">
                <a16:creationId xmlns:a16="http://schemas.microsoft.com/office/drawing/2014/main" id="{44E3BFA8-176F-BD4F-F1E6-A60D04427F33}"/>
              </a:ext>
            </a:extLst>
          </p:cNvPr>
          <p:cNvPicPr>
            <a:picLocks noChangeAspect="1"/>
          </p:cNvPicPr>
          <p:nvPr/>
        </p:nvPicPr>
        <p:blipFill>
          <a:blip r:embed="rId3"/>
          <a:stretch>
            <a:fillRect/>
          </a:stretch>
        </p:blipFill>
        <p:spPr>
          <a:xfrm>
            <a:off x="0" y="1181100"/>
            <a:ext cx="12192000" cy="46507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g386cf6a2822_0_5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en-IN" sz="1600" b="1"/>
              <a:t>16</a:t>
            </a:fld>
            <a:endParaRPr sz="1600" b="1"/>
          </a:p>
        </p:txBody>
      </p:sp>
      <p:sp>
        <p:nvSpPr>
          <p:cNvPr id="231" name="Google Shape;231;g386cf6a2822_0_59"/>
          <p:cNvSpPr txBox="1">
            <a:spLocks noGrp="1"/>
          </p:cNvSpPr>
          <p:nvPr>
            <p:ph type="title"/>
          </p:nvPr>
        </p:nvSpPr>
        <p:spPr>
          <a:xfrm>
            <a:off x="0" y="187375"/>
            <a:ext cx="5021700" cy="4944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Times New Roman"/>
              <a:buNone/>
            </a:pPr>
            <a:r>
              <a:rPr lang="en-IN" sz="2800" b="1"/>
              <a:t>Activity Diagram (Login System)</a:t>
            </a:r>
            <a:endParaRPr sz="2800" b="1">
              <a:solidFill>
                <a:schemeClr val="dk1"/>
              </a:solidFill>
            </a:endParaRPr>
          </a:p>
        </p:txBody>
      </p:sp>
      <p:pic>
        <p:nvPicPr>
          <p:cNvPr id="3" name="Picture 2">
            <a:extLst>
              <a:ext uri="{FF2B5EF4-FFF2-40B4-BE49-F238E27FC236}">
                <a16:creationId xmlns:a16="http://schemas.microsoft.com/office/drawing/2014/main" id="{E03FF51B-D436-7336-83A4-5297892D7517}"/>
              </a:ext>
            </a:extLst>
          </p:cNvPr>
          <p:cNvPicPr>
            <a:picLocks noChangeAspect="1"/>
          </p:cNvPicPr>
          <p:nvPr/>
        </p:nvPicPr>
        <p:blipFill>
          <a:blip r:embed="rId3"/>
          <a:stretch>
            <a:fillRect/>
          </a:stretch>
        </p:blipFill>
        <p:spPr>
          <a:xfrm>
            <a:off x="3581401" y="656838"/>
            <a:ext cx="4658359" cy="580503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g386cf6a2822_0_6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en-IN" sz="1600" b="1"/>
              <a:t>17</a:t>
            </a:fld>
            <a:endParaRPr sz="1600" b="1"/>
          </a:p>
        </p:txBody>
      </p:sp>
      <p:sp>
        <p:nvSpPr>
          <p:cNvPr id="238" name="Google Shape;238;g386cf6a2822_0_66"/>
          <p:cNvSpPr txBox="1">
            <a:spLocks noGrp="1"/>
          </p:cNvSpPr>
          <p:nvPr>
            <p:ph type="title"/>
          </p:nvPr>
        </p:nvSpPr>
        <p:spPr>
          <a:xfrm>
            <a:off x="0" y="187375"/>
            <a:ext cx="5021700" cy="4944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Times New Roman"/>
              <a:buNone/>
            </a:pPr>
            <a:r>
              <a:rPr lang="en-IN" sz="2800" b="1"/>
              <a:t>Deployment Diagram</a:t>
            </a:r>
            <a:endParaRPr sz="2800" b="1">
              <a:solidFill>
                <a:schemeClr val="dk1"/>
              </a:solidFill>
            </a:endParaRPr>
          </a:p>
        </p:txBody>
      </p:sp>
      <p:sp>
        <p:nvSpPr>
          <p:cNvPr id="3" name="Footer Placeholder 1">
            <a:extLst>
              <a:ext uri="{FF2B5EF4-FFF2-40B4-BE49-F238E27FC236}">
                <a16:creationId xmlns:a16="http://schemas.microsoft.com/office/drawing/2014/main" id="{00F3FF1C-823D-3F40-9848-873855A86815}"/>
              </a:ext>
            </a:extLst>
          </p:cNvPr>
          <p:cNvSpPr>
            <a:spLocks noGrp="1"/>
          </p:cNvSpPr>
          <p:nvPr/>
        </p:nvSpPr>
        <p:spPr>
          <a:xfrm>
            <a:off x="2750731" y="6024972"/>
            <a:ext cx="6690538" cy="770701"/>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III </a:t>
            </a:r>
            <a:r>
              <a:rPr lang="en-US" dirty="0" err="1"/>
              <a:t>B.Tech</a:t>
            </a:r>
            <a:r>
              <a:rPr lang="en-US" dirty="0"/>
              <a:t> (CSE-D) Industrial Oriented Mini Project (IOMP) Presentation Review-2,</a:t>
            </a:r>
          </a:p>
          <a:p>
            <a:r>
              <a:rPr lang="en-US" dirty="0"/>
              <a:t> CSE Dept, CVR college of Engineering</a:t>
            </a:r>
          </a:p>
        </p:txBody>
      </p:sp>
      <p:pic>
        <p:nvPicPr>
          <p:cNvPr id="4" name="Picture 3">
            <a:extLst>
              <a:ext uri="{FF2B5EF4-FFF2-40B4-BE49-F238E27FC236}">
                <a16:creationId xmlns:a16="http://schemas.microsoft.com/office/drawing/2014/main" id="{71263E3A-41A0-F209-130C-687885BAD655}"/>
              </a:ext>
            </a:extLst>
          </p:cNvPr>
          <p:cNvPicPr>
            <a:picLocks noChangeAspect="1"/>
          </p:cNvPicPr>
          <p:nvPr/>
        </p:nvPicPr>
        <p:blipFill>
          <a:blip r:embed="rId3"/>
          <a:stretch>
            <a:fillRect/>
          </a:stretch>
        </p:blipFill>
        <p:spPr>
          <a:xfrm>
            <a:off x="3071390" y="809259"/>
            <a:ext cx="6049219" cy="523948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F84B983-CDCC-00C8-9507-4BB106332FBB}"/>
              </a:ext>
            </a:extLst>
          </p:cNvPr>
          <p:cNvSpPr>
            <a:spLocks noGrp="1"/>
          </p:cNvSpPr>
          <p:nvPr>
            <p:ph type="body" idx="1"/>
          </p:nvPr>
        </p:nvSpPr>
        <p:spPr>
          <a:xfrm>
            <a:off x="478231" y="1253331"/>
            <a:ext cx="10515600" cy="4351338"/>
          </a:xfrm>
        </p:spPr>
        <p:txBody>
          <a:bodyPr/>
          <a:lstStyle/>
          <a:p>
            <a:pPr marL="114300" indent="0">
              <a:buNone/>
            </a:pPr>
            <a:r>
              <a:rPr lang="en-US" b="1" dirty="0" err="1"/>
              <a:t>ModuleTextual</a:t>
            </a:r>
            <a:r>
              <a:rPr lang="en-US" b="1" dirty="0"/>
              <a:t> Branch (BERT):</a:t>
            </a:r>
          </a:p>
          <a:p>
            <a:pPr marL="114300" indent="0">
              <a:buNone/>
            </a:pPr>
            <a:r>
              <a:rPr lang="en-US" b="1" dirty="0"/>
              <a:t> </a:t>
            </a:r>
            <a:r>
              <a:rPr lang="en-US" sz="2400" dirty="0"/>
              <a:t>Utilizes a pre-trained Bidirectional Encoder Representations from Transformers (BERT) model to process real-time financial news headlines. It extracts deep semantic embeddings ($</a:t>
            </a:r>
            <a:r>
              <a:rPr lang="en-US" sz="2400" dirty="0" err="1"/>
              <a:t>s_i</a:t>
            </a:r>
            <a:r>
              <a:rPr lang="en-US" sz="2400" dirty="0"/>
              <a:t>$) that capture market sentiment and external event impact.</a:t>
            </a:r>
          </a:p>
          <a:p>
            <a:pPr marL="114300" indent="0">
              <a:buNone/>
            </a:pPr>
            <a:r>
              <a:rPr lang="en-US" sz="2400" dirty="0"/>
              <a:t>Numerical Branch (GRU): Employs a Gated Recurrent Unit (GRU) network to analyze the last 60 periods of historical price data. It captures the temporal dependencies and volatility patterns ($</a:t>
            </a:r>
            <a:r>
              <a:rPr lang="en-US" sz="2400" dirty="0" err="1"/>
              <a:t>g_i</a:t>
            </a:r>
            <a:r>
              <a:rPr lang="en-US" sz="2400" dirty="0"/>
              <a:t>$) inherent in the stock’s time series</a:t>
            </a:r>
            <a:endParaRPr lang="en-IN" sz="2400" dirty="0"/>
          </a:p>
        </p:txBody>
      </p:sp>
      <p:sp>
        <p:nvSpPr>
          <p:cNvPr id="4" name="Slide Number Placeholder 3">
            <a:extLst>
              <a:ext uri="{FF2B5EF4-FFF2-40B4-BE49-F238E27FC236}">
                <a16:creationId xmlns:a16="http://schemas.microsoft.com/office/drawing/2014/main" id="{813B4CC2-91EC-EFB1-A955-A09A1BD797F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18</a:t>
            </a:fld>
            <a:endParaRPr lang="en-IN"/>
          </a:p>
        </p:txBody>
      </p:sp>
      <p:sp>
        <p:nvSpPr>
          <p:cNvPr id="7" name="Google Shape;244;p11">
            <a:extLst>
              <a:ext uri="{FF2B5EF4-FFF2-40B4-BE49-F238E27FC236}">
                <a16:creationId xmlns:a16="http://schemas.microsoft.com/office/drawing/2014/main" id="{6EFB9D77-78E2-D789-30D1-F77469B92F2B}"/>
              </a:ext>
            </a:extLst>
          </p:cNvPr>
          <p:cNvSpPr txBox="1">
            <a:spLocks/>
          </p:cNvSpPr>
          <p:nvPr/>
        </p:nvSpPr>
        <p:spPr>
          <a:xfrm>
            <a:off x="478231" y="405038"/>
            <a:ext cx="11052600" cy="588000"/>
          </a:xfrm>
          <a:prstGeom prst="rect">
            <a:avLst/>
          </a:prstGeom>
          <a:solidFill>
            <a:srgbClr val="C9DAF8"/>
          </a:solid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2800"/>
            </a:pPr>
            <a:r>
              <a:rPr lang="en-US" sz="3600" dirty="0"/>
              <a:t>Implementation – Module Description</a:t>
            </a:r>
            <a:endParaRPr lang="en-IN" sz="3600" dirty="0"/>
          </a:p>
        </p:txBody>
      </p:sp>
      <p:cxnSp>
        <p:nvCxnSpPr>
          <p:cNvPr id="8" name="Google Shape;245;p11">
            <a:extLst>
              <a:ext uri="{FF2B5EF4-FFF2-40B4-BE49-F238E27FC236}">
                <a16:creationId xmlns:a16="http://schemas.microsoft.com/office/drawing/2014/main" id="{1C020A17-3C16-6C64-1217-B6B1711D3022}"/>
              </a:ext>
            </a:extLst>
          </p:cNvPr>
          <p:cNvCxnSpPr/>
          <p:nvPr/>
        </p:nvCxnSpPr>
        <p:spPr>
          <a:xfrm rot="10800000" flipH="1">
            <a:off x="478231" y="975038"/>
            <a:ext cx="11052600" cy="36000"/>
          </a:xfrm>
          <a:prstGeom prst="straightConnector1">
            <a:avLst/>
          </a:prstGeom>
          <a:noFill/>
          <a:ln w="28575" cap="flat" cmpd="sng">
            <a:solidFill>
              <a:srgbClr val="222A35"/>
            </a:solidFill>
            <a:prstDash val="solid"/>
            <a:miter lim="800000"/>
            <a:headEnd type="none" w="sm" len="sm"/>
            <a:tailEnd type="none" w="sm" len="sm"/>
          </a:ln>
        </p:spPr>
      </p:cxnSp>
      <p:sp>
        <p:nvSpPr>
          <p:cNvPr id="13" name="Footer Placeholder 1">
            <a:extLst>
              <a:ext uri="{FF2B5EF4-FFF2-40B4-BE49-F238E27FC236}">
                <a16:creationId xmlns:a16="http://schemas.microsoft.com/office/drawing/2014/main" id="{54730F0F-2A7F-C8DC-4606-D1D53D961E31}"/>
              </a:ext>
            </a:extLst>
          </p:cNvPr>
          <p:cNvSpPr>
            <a:spLocks noGrp="1"/>
          </p:cNvSpPr>
          <p:nvPr/>
        </p:nvSpPr>
        <p:spPr>
          <a:xfrm>
            <a:off x="2750731" y="6024972"/>
            <a:ext cx="6690538" cy="770701"/>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III </a:t>
            </a:r>
            <a:r>
              <a:rPr lang="en-US" dirty="0" err="1"/>
              <a:t>B.Tech</a:t>
            </a:r>
            <a:r>
              <a:rPr lang="en-US" dirty="0"/>
              <a:t> (CSE-D) Industrial Oriented Mini Project (IOMP) Presentation Review-2,</a:t>
            </a:r>
          </a:p>
          <a:p>
            <a:r>
              <a:rPr lang="en-US" dirty="0"/>
              <a:t> CSE Dept, CVR college of Engineering</a:t>
            </a:r>
          </a:p>
        </p:txBody>
      </p:sp>
    </p:spTree>
    <p:extLst>
      <p:ext uri="{BB962C8B-B14F-4D97-AF65-F5344CB8AC3E}">
        <p14:creationId xmlns:p14="http://schemas.microsoft.com/office/powerpoint/2010/main" val="23933885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CAA81-5E52-2E05-74E6-465CC661B579}"/>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19D9762-941A-64B7-59F0-B4201EBC1300}"/>
              </a:ext>
            </a:extLst>
          </p:cNvPr>
          <p:cNvSpPr>
            <a:spLocks noGrp="1"/>
          </p:cNvSpPr>
          <p:nvPr>
            <p:ph type="body" idx="1"/>
          </p:nvPr>
        </p:nvSpPr>
        <p:spPr>
          <a:xfrm>
            <a:off x="478231" y="1253331"/>
            <a:ext cx="10515600" cy="4717256"/>
          </a:xfrm>
        </p:spPr>
        <p:txBody>
          <a:bodyPr>
            <a:normAutofit fontScale="92500" lnSpcReduction="20000"/>
          </a:bodyPr>
          <a:lstStyle/>
          <a:p>
            <a:pPr marL="114300" indent="0">
              <a:lnSpc>
                <a:spcPct val="110000"/>
              </a:lnSpc>
              <a:buNone/>
            </a:pPr>
            <a:r>
              <a:rPr lang="en-IN" b="1" dirty="0"/>
              <a:t>AI-Powered Chatbot System</a:t>
            </a:r>
          </a:p>
          <a:p>
            <a:pPr>
              <a:lnSpc>
                <a:spcPct val="110000"/>
              </a:lnSpc>
            </a:pPr>
            <a:r>
              <a:rPr lang="en-IN" dirty="0"/>
              <a:t>Provides instant responses to user queries </a:t>
            </a:r>
          </a:p>
          <a:p>
            <a:pPr>
              <a:lnSpc>
                <a:spcPct val="110000"/>
              </a:lnSpc>
            </a:pPr>
            <a:r>
              <a:rPr lang="en-IN" dirty="0"/>
              <a:t>Handles queries about: </a:t>
            </a:r>
          </a:p>
          <a:p>
            <a:pPr lvl="1">
              <a:lnSpc>
                <a:spcPct val="110000"/>
              </a:lnSpc>
            </a:pPr>
            <a:r>
              <a:rPr lang="en-IN" dirty="0"/>
              <a:t>Exam schedules </a:t>
            </a:r>
          </a:p>
          <a:p>
            <a:pPr lvl="1">
              <a:lnSpc>
                <a:spcPct val="110000"/>
              </a:lnSpc>
            </a:pPr>
            <a:r>
              <a:rPr lang="en-IN" dirty="0"/>
              <a:t>Faculty details </a:t>
            </a:r>
          </a:p>
          <a:p>
            <a:pPr lvl="1">
              <a:lnSpc>
                <a:spcPct val="110000"/>
              </a:lnSpc>
            </a:pPr>
            <a:r>
              <a:rPr lang="en-IN" dirty="0"/>
              <a:t>Classroom locations </a:t>
            </a:r>
          </a:p>
          <a:p>
            <a:pPr lvl="1">
              <a:lnSpc>
                <a:spcPct val="110000"/>
              </a:lnSpc>
            </a:pPr>
            <a:r>
              <a:rPr lang="en-IN" dirty="0"/>
              <a:t>Circulars </a:t>
            </a:r>
          </a:p>
          <a:p>
            <a:pPr>
              <a:lnSpc>
                <a:spcPct val="110000"/>
              </a:lnSpc>
            </a:pPr>
            <a:r>
              <a:rPr lang="en-IN" dirty="0"/>
              <a:t>Built using Flask+ </a:t>
            </a:r>
            <a:r>
              <a:rPr lang="en-IN" dirty="0" err="1"/>
              <a:t>Groq</a:t>
            </a:r>
            <a:r>
              <a:rPr lang="en-IN" dirty="0"/>
              <a:t> API </a:t>
            </a:r>
          </a:p>
          <a:p>
            <a:pPr>
              <a:lnSpc>
                <a:spcPct val="110000"/>
              </a:lnSpc>
            </a:pPr>
            <a:r>
              <a:rPr lang="en-IN" dirty="0"/>
              <a:t>Reduces administrative workload </a:t>
            </a:r>
          </a:p>
          <a:p>
            <a:pPr>
              <a:lnSpc>
                <a:spcPct val="110000"/>
              </a:lnSpc>
            </a:pPr>
            <a:r>
              <a:rPr lang="en-IN" dirty="0"/>
              <a:t>Available 24/7</a:t>
            </a:r>
          </a:p>
        </p:txBody>
      </p:sp>
      <p:sp>
        <p:nvSpPr>
          <p:cNvPr id="4" name="Slide Number Placeholder 3">
            <a:extLst>
              <a:ext uri="{FF2B5EF4-FFF2-40B4-BE49-F238E27FC236}">
                <a16:creationId xmlns:a16="http://schemas.microsoft.com/office/drawing/2014/main" id="{B697F55A-46E3-40CC-0DD2-2364BD0BBF0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19</a:t>
            </a:fld>
            <a:endParaRPr lang="en-IN"/>
          </a:p>
        </p:txBody>
      </p:sp>
      <p:sp>
        <p:nvSpPr>
          <p:cNvPr id="7" name="Google Shape;244;p11">
            <a:extLst>
              <a:ext uri="{FF2B5EF4-FFF2-40B4-BE49-F238E27FC236}">
                <a16:creationId xmlns:a16="http://schemas.microsoft.com/office/drawing/2014/main" id="{37144C25-1D70-2599-2424-52B4E97A4960}"/>
              </a:ext>
            </a:extLst>
          </p:cNvPr>
          <p:cNvSpPr txBox="1">
            <a:spLocks/>
          </p:cNvSpPr>
          <p:nvPr/>
        </p:nvSpPr>
        <p:spPr>
          <a:xfrm>
            <a:off x="478231" y="387037"/>
            <a:ext cx="11052600" cy="588000"/>
          </a:xfrm>
          <a:prstGeom prst="rect">
            <a:avLst/>
          </a:prstGeom>
          <a:solidFill>
            <a:srgbClr val="C9DAF8"/>
          </a:solid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2800"/>
            </a:pPr>
            <a:r>
              <a:rPr lang="en-US" sz="3600" dirty="0"/>
              <a:t>Implementation – Module Description</a:t>
            </a:r>
            <a:endParaRPr lang="en-IN" sz="3600" dirty="0"/>
          </a:p>
        </p:txBody>
      </p:sp>
      <p:cxnSp>
        <p:nvCxnSpPr>
          <p:cNvPr id="8" name="Google Shape;245;p11">
            <a:extLst>
              <a:ext uri="{FF2B5EF4-FFF2-40B4-BE49-F238E27FC236}">
                <a16:creationId xmlns:a16="http://schemas.microsoft.com/office/drawing/2014/main" id="{44B133A3-5073-A03E-BD6B-EEB081CE516F}"/>
              </a:ext>
            </a:extLst>
          </p:cNvPr>
          <p:cNvCxnSpPr/>
          <p:nvPr/>
        </p:nvCxnSpPr>
        <p:spPr>
          <a:xfrm rot="10800000" flipH="1">
            <a:off x="478231" y="975038"/>
            <a:ext cx="11052600" cy="36000"/>
          </a:xfrm>
          <a:prstGeom prst="straightConnector1">
            <a:avLst/>
          </a:prstGeom>
          <a:noFill/>
          <a:ln w="28575" cap="flat" cmpd="sng">
            <a:solidFill>
              <a:srgbClr val="222A35"/>
            </a:solidFill>
            <a:prstDash val="solid"/>
            <a:miter lim="800000"/>
            <a:headEnd type="none" w="sm" len="sm"/>
            <a:tailEnd type="none" w="sm" len="sm"/>
          </a:ln>
        </p:spPr>
      </p:cxnSp>
      <p:sp>
        <p:nvSpPr>
          <p:cNvPr id="6" name="Footer Placeholder 1">
            <a:extLst>
              <a:ext uri="{FF2B5EF4-FFF2-40B4-BE49-F238E27FC236}">
                <a16:creationId xmlns:a16="http://schemas.microsoft.com/office/drawing/2014/main" id="{D2282242-35ED-BB74-2195-607F2664A1E3}"/>
              </a:ext>
            </a:extLst>
          </p:cNvPr>
          <p:cNvSpPr>
            <a:spLocks noGrp="1"/>
          </p:cNvSpPr>
          <p:nvPr/>
        </p:nvSpPr>
        <p:spPr>
          <a:xfrm>
            <a:off x="2750731" y="6024972"/>
            <a:ext cx="6690538" cy="770701"/>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III </a:t>
            </a:r>
            <a:r>
              <a:rPr lang="en-US" dirty="0" err="1"/>
              <a:t>B.Tech</a:t>
            </a:r>
            <a:r>
              <a:rPr lang="en-US" dirty="0"/>
              <a:t> (CSE-D) Industrial Oriented Mini Project (IOMP) Presentation Review-2,</a:t>
            </a:r>
          </a:p>
          <a:p>
            <a:r>
              <a:rPr lang="en-US" dirty="0"/>
              <a:t> CSE Dept, CVR college of Engineering</a:t>
            </a:r>
          </a:p>
        </p:txBody>
      </p:sp>
    </p:spTree>
    <p:extLst>
      <p:ext uri="{BB962C8B-B14F-4D97-AF65-F5344CB8AC3E}">
        <p14:creationId xmlns:p14="http://schemas.microsoft.com/office/powerpoint/2010/main" val="2342938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A46EB-3ED5-4BFB-E8FF-68DCE42A1AD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C15F5968-441F-33B2-39ED-49779315632B}"/>
              </a:ext>
            </a:extLst>
          </p:cNvPr>
          <p:cNvSpPr>
            <a:spLocks noGrp="1"/>
          </p:cNvSpPr>
          <p:nvPr>
            <p:ph type="body" idx="1"/>
          </p:nvPr>
        </p:nvSpPr>
        <p:spPr>
          <a:xfrm>
            <a:off x="478230" y="1199535"/>
            <a:ext cx="11320479" cy="4714840"/>
          </a:xfrm>
        </p:spPr>
        <p:txBody>
          <a:bodyPr numCol="3">
            <a:normAutofit fontScale="92500" lnSpcReduction="20000"/>
          </a:bodyPr>
          <a:lstStyle/>
          <a:p>
            <a:pPr>
              <a:lnSpc>
                <a:spcPct val="120000"/>
              </a:lnSpc>
            </a:pPr>
            <a:r>
              <a:rPr lang="en-US" sz="2400" b="1" dirty="0"/>
              <a:t>Faculty / Teacher Portal</a:t>
            </a:r>
          </a:p>
          <a:p>
            <a:pPr>
              <a:lnSpc>
                <a:spcPct val="120000"/>
              </a:lnSpc>
            </a:pPr>
            <a:r>
              <a:rPr lang="en-US" sz="1900" dirty="0"/>
              <a:t>Manage courses and subjects </a:t>
            </a:r>
          </a:p>
          <a:p>
            <a:pPr>
              <a:lnSpc>
                <a:spcPct val="120000"/>
              </a:lnSpc>
            </a:pPr>
            <a:r>
              <a:rPr lang="en-US" sz="1900" dirty="0"/>
              <a:t>Upload assignments or HomeWorks.</a:t>
            </a:r>
          </a:p>
          <a:p>
            <a:pPr>
              <a:lnSpc>
                <a:spcPct val="120000"/>
              </a:lnSpc>
            </a:pPr>
            <a:r>
              <a:rPr lang="en-US" sz="1900" dirty="0"/>
              <a:t>Record and manage attendance </a:t>
            </a:r>
          </a:p>
          <a:p>
            <a:pPr>
              <a:lnSpc>
                <a:spcPct val="120000"/>
              </a:lnSpc>
            </a:pPr>
            <a:r>
              <a:rPr lang="en-US" sz="1900" dirty="0"/>
              <a:t>Upload and manage results </a:t>
            </a:r>
          </a:p>
          <a:p>
            <a:pPr>
              <a:lnSpc>
                <a:spcPct val="120000"/>
              </a:lnSpc>
            </a:pPr>
            <a:r>
              <a:rPr lang="en-US" sz="1900" dirty="0"/>
              <a:t>View student profiles and performance </a:t>
            </a:r>
          </a:p>
          <a:p>
            <a:pPr>
              <a:lnSpc>
                <a:spcPct val="120000"/>
              </a:lnSpc>
            </a:pPr>
            <a:r>
              <a:rPr lang="en-US" sz="1900" dirty="0"/>
              <a:t>Communicate with students via chat</a:t>
            </a:r>
            <a:endParaRPr lang="en-US" sz="1900" b="1" dirty="0"/>
          </a:p>
          <a:p>
            <a:endParaRPr lang="en-US" sz="1800" b="1" dirty="0"/>
          </a:p>
          <a:p>
            <a:pPr marL="114300" indent="0">
              <a:buNone/>
            </a:pPr>
            <a:endParaRPr lang="en-US" sz="1800" b="1" dirty="0"/>
          </a:p>
          <a:p>
            <a:pPr>
              <a:lnSpc>
                <a:spcPct val="120000"/>
              </a:lnSpc>
            </a:pPr>
            <a:r>
              <a:rPr lang="en-US" sz="2400" b="1" dirty="0"/>
              <a:t>Student Portal</a:t>
            </a:r>
          </a:p>
          <a:p>
            <a:pPr>
              <a:lnSpc>
                <a:spcPct val="120000"/>
              </a:lnSpc>
            </a:pPr>
            <a:r>
              <a:rPr lang="en-US" sz="1900" dirty="0"/>
              <a:t>View personal and academic details </a:t>
            </a:r>
          </a:p>
          <a:p>
            <a:pPr>
              <a:lnSpc>
                <a:spcPct val="120000"/>
              </a:lnSpc>
            </a:pPr>
            <a:r>
              <a:rPr lang="en-US" sz="1900" dirty="0"/>
              <a:t>Check attendance records </a:t>
            </a:r>
          </a:p>
          <a:p>
            <a:pPr>
              <a:lnSpc>
                <a:spcPct val="120000"/>
              </a:lnSpc>
            </a:pPr>
            <a:r>
              <a:rPr lang="en-US" sz="1900" dirty="0"/>
              <a:t>Access exam schedules and results </a:t>
            </a:r>
          </a:p>
          <a:p>
            <a:pPr>
              <a:lnSpc>
                <a:spcPct val="120000"/>
              </a:lnSpc>
            </a:pPr>
            <a:r>
              <a:rPr lang="en-US" sz="1900" dirty="0"/>
              <a:t>Download circulars and notifications </a:t>
            </a:r>
          </a:p>
          <a:p>
            <a:pPr>
              <a:lnSpc>
                <a:spcPct val="120000"/>
              </a:lnSpc>
            </a:pPr>
            <a:r>
              <a:rPr lang="en-US" sz="1900" dirty="0"/>
              <a:t>Communicate with faculty </a:t>
            </a:r>
          </a:p>
          <a:p>
            <a:pPr>
              <a:lnSpc>
                <a:spcPct val="120000"/>
              </a:lnSpc>
            </a:pPr>
            <a:r>
              <a:rPr lang="en-US" sz="1900" dirty="0"/>
              <a:t>Access chatbot for queries</a:t>
            </a:r>
            <a:endParaRPr lang="en-US" sz="1900" b="1" dirty="0"/>
          </a:p>
          <a:p>
            <a:endParaRPr lang="en-US" sz="1800" b="1" dirty="0"/>
          </a:p>
          <a:p>
            <a:endParaRPr lang="en-US" sz="1800" b="1" dirty="0"/>
          </a:p>
          <a:p>
            <a:pPr marL="114300" indent="0">
              <a:buNone/>
            </a:pPr>
            <a:endParaRPr lang="en-US" sz="1800" b="1" dirty="0"/>
          </a:p>
          <a:p>
            <a:pPr>
              <a:lnSpc>
                <a:spcPct val="120000"/>
              </a:lnSpc>
            </a:pPr>
            <a:r>
              <a:rPr lang="en-US" sz="2400" b="1" dirty="0"/>
              <a:t>Admin Portal</a:t>
            </a:r>
          </a:p>
          <a:p>
            <a:pPr>
              <a:lnSpc>
                <a:spcPct val="120000"/>
              </a:lnSpc>
            </a:pPr>
            <a:r>
              <a:rPr lang="en-US" sz="1900" dirty="0"/>
              <a:t>Manage users (students, teachers) </a:t>
            </a:r>
          </a:p>
          <a:p>
            <a:pPr>
              <a:lnSpc>
                <a:spcPct val="120000"/>
              </a:lnSpc>
            </a:pPr>
            <a:r>
              <a:rPr lang="en-US" sz="1900" dirty="0"/>
              <a:t>Create, update, and delete accounts </a:t>
            </a:r>
          </a:p>
          <a:p>
            <a:pPr>
              <a:lnSpc>
                <a:spcPct val="120000"/>
              </a:lnSpc>
            </a:pPr>
            <a:r>
              <a:rPr lang="en-US" sz="1900" dirty="0"/>
              <a:t>Manage academic schedules and calendar </a:t>
            </a:r>
          </a:p>
          <a:p>
            <a:pPr>
              <a:lnSpc>
                <a:spcPct val="120000"/>
              </a:lnSpc>
            </a:pPr>
            <a:r>
              <a:rPr lang="en-US" sz="1900" dirty="0"/>
              <a:t>Publish circulars and notifications </a:t>
            </a:r>
          </a:p>
          <a:p>
            <a:pPr>
              <a:lnSpc>
                <a:spcPct val="120000"/>
              </a:lnSpc>
            </a:pPr>
            <a:r>
              <a:rPr lang="en-US" sz="1900" dirty="0"/>
              <a:t>Uploads Results</a:t>
            </a:r>
          </a:p>
          <a:p>
            <a:pPr>
              <a:lnSpc>
                <a:spcPct val="120000"/>
              </a:lnSpc>
            </a:pPr>
            <a:r>
              <a:rPr lang="en-US" sz="1900" dirty="0"/>
              <a:t>Full system access and control</a:t>
            </a:r>
          </a:p>
          <a:p>
            <a:endParaRPr lang="en-IN" sz="1800" dirty="0"/>
          </a:p>
        </p:txBody>
      </p:sp>
      <p:sp>
        <p:nvSpPr>
          <p:cNvPr id="4" name="Slide Number Placeholder 3">
            <a:extLst>
              <a:ext uri="{FF2B5EF4-FFF2-40B4-BE49-F238E27FC236}">
                <a16:creationId xmlns:a16="http://schemas.microsoft.com/office/drawing/2014/main" id="{BCE8E2A4-776B-4C79-CFEB-C197B05F57B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20</a:t>
            </a:fld>
            <a:endParaRPr lang="en-IN"/>
          </a:p>
        </p:txBody>
      </p:sp>
      <p:sp>
        <p:nvSpPr>
          <p:cNvPr id="7" name="Google Shape;244;p11">
            <a:extLst>
              <a:ext uri="{FF2B5EF4-FFF2-40B4-BE49-F238E27FC236}">
                <a16:creationId xmlns:a16="http://schemas.microsoft.com/office/drawing/2014/main" id="{0B1F6141-098D-6485-462E-4525C3C3B398}"/>
              </a:ext>
            </a:extLst>
          </p:cNvPr>
          <p:cNvSpPr txBox="1">
            <a:spLocks/>
          </p:cNvSpPr>
          <p:nvPr/>
        </p:nvSpPr>
        <p:spPr>
          <a:xfrm>
            <a:off x="478231" y="387037"/>
            <a:ext cx="11052600" cy="588000"/>
          </a:xfrm>
          <a:prstGeom prst="rect">
            <a:avLst/>
          </a:prstGeom>
          <a:solidFill>
            <a:srgbClr val="C9DAF8"/>
          </a:solid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2800"/>
            </a:pPr>
            <a:r>
              <a:rPr lang="en-US" sz="3600" dirty="0"/>
              <a:t>Implementation – Module Description</a:t>
            </a:r>
            <a:endParaRPr lang="en-IN" sz="3600" dirty="0"/>
          </a:p>
        </p:txBody>
      </p:sp>
      <p:cxnSp>
        <p:nvCxnSpPr>
          <p:cNvPr id="8" name="Google Shape;245;p11">
            <a:extLst>
              <a:ext uri="{FF2B5EF4-FFF2-40B4-BE49-F238E27FC236}">
                <a16:creationId xmlns:a16="http://schemas.microsoft.com/office/drawing/2014/main" id="{F8054424-6F22-C4E0-2931-61824351DA5F}"/>
              </a:ext>
            </a:extLst>
          </p:cNvPr>
          <p:cNvCxnSpPr/>
          <p:nvPr/>
        </p:nvCxnSpPr>
        <p:spPr>
          <a:xfrm rot="10800000" flipH="1">
            <a:off x="478231" y="975038"/>
            <a:ext cx="11052600" cy="36000"/>
          </a:xfrm>
          <a:prstGeom prst="straightConnector1">
            <a:avLst/>
          </a:prstGeom>
          <a:noFill/>
          <a:ln w="28575" cap="flat" cmpd="sng">
            <a:solidFill>
              <a:srgbClr val="222A35"/>
            </a:solidFill>
            <a:prstDash val="solid"/>
            <a:miter lim="800000"/>
            <a:headEnd type="none" w="sm" len="sm"/>
            <a:tailEnd type="none" w="sm" len="sm"/>
          </a:ln>
        </p:spPr>
      </p:cxnSp>
      <p:sp>
        <p:nvSpPr>
          <p:cNvPr id="14" name="Footer Placeholder 1">
            <a:extLst>
              <a:ext uri="{FF2B5EF4-FFF2-40B4-BE49-F238E27FC236}">
                <a16:creationId xmlns:a16="http://schemas.microsoft.com/office/drawing/2014/main" id="{ED874936-D3DC-46AE-AF51-35FDD95DFCC1}"/>
              </a:ext>
            </a:extLst>
          </p:cNvPr>
          <p:cNvSpPr>
            <a:spLocks noGrp="1"/>
          </p:cNvSpPr>
          <p:nvPr/>
        </p:nvSpPr>
        <p:spPr>
          <a:xfrm>
            <a:off x="2750731" y="6024972"/>
            <a:ext cx="6690538" cy="770701"/>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III </a:t>
            </a:r>
            <a:r>
              <a:rPr lang="en-US" dirty="0" err="1"/>
              <a:t>B.Tech</a:t>
            </a:r>
            <a:r>
              <a:rPr lang="en-US" dirty="0"/>
              <a:t> (CSE-D) Industrial Oriented Mini Project (IOMP) Presentation Review-2,</a:t>
            </a:r>
          </a:p>
          <a:p>
            <a:r>
              <a:rPr lang="en-US" dirty="0"/>
              <a:t> CSE Dept, CVR college of Engineering</a:t>
            </a:r>
          </a:p>
        </p:txBody>
      </p:sp>
    </p:spTree>
    <p:extLst>
      <p:ext uri="{BB962C8B-B14F-4D97-AF65-F5344CB8AC3E}">
        <p14:creationId xmlns:p14="http://schemas.microsoft.com/office/powerpoint/2010/main" val="5624686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0649F-5374-8C9E-D3E6-8DAD79562ED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2D8F104-C45D-A939-49F1-44D3BCFD5441}"/>
              </a:ext>
            </a:extLst>
          </p:cNvPr>
          <p:cNvSpPr>
            <a:spLocks noGrp="1"/>
          </p:cNvSpPr>
          <p:nvPr>
            <p:ph type="body" idx="1"/>
          </p:nvPr>
        </p:nvSpPr>
        <p:spPr>
          <a:xfrm>
            <a:off x="298878" y="1220666"/>
            <a:ext cx="5461945" cy="5135684"/>
          </a:xfrm>
        </p:spPr>
        <p:txBody>
          <a:bodyPr>
            <a:normAutofit/>
          </a:bodyPr>
          <a:lstStyle/>
          <a:p>
            <a:pPr marL="114300" indent="0">
              <a:lnSpc>
                <a:spcPct val="100000"/>
              </a:lnSpc>
              <a:buNone/>
            </a:pPr>
            <a:r>
              <a:rPr lang="en-US" b="1" dirty="0"/>
              <a:t>Real-Time Communication with </a:t>
            </a:r>
            <a:r>
              <a:rPr lang="en-US" b="1" dirty="0" err="1"/>
              <a:t>WebSockets</a:t>
            </a:r>
            <a:endParaRPr lang="en-US" b="1" dirty="0"/>
          </a:p>
          <a:p>
            <a:pPr marL="114300" indent="0">
              <a:lnSpc>
                <a:spcPct val="150000"/>
              </a:lnSpc>
              <a:buNone/>
            </a:pPr>
            <a:r>
              <a:rPr lang="en-US" sz="2000" dirty="0"/>
              <a:t>The application uses </a:t>
            </a:r>
            <a:r>
              <a:rPr lang="en-US" sz="2000" b="1" dirty="0"/>
              <a:t>Socket.io</a:t>
            </a:r>
            <a:r>
              <a:rPr lang="en-US" sz="2000" dirty="0"/>
              <a:t> to establish a persistent, bidirectional connection between the client and the server. This replaces traditional HTTP requests for features that require instant data delivery, ensuring the "AI Integrated CMS" feels responsive and modern.</a:t>
            </a:r>
          </a:p>
        </p:txBody>
      </p:sp>
      <p:sp>
        <p:nvSpPr>
          <p:cNvPr id="4" name="Slide Number Placeholder 3">
            <a:extLst>
              <a:ext uri="{FF2B5EF4-FFF2-40B4-BE49-F238E27FC236}">
                <a16:creationId xmlns:a16="http://schemas.microsoft.com/office/drawing/2014/main" id="{CA893521-7643-941E-21A5-98EFD3C2A90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21</a:t>
            </a:fld>
            <a:endParaRPr lang="en-IN"/>
          </a:p>
        </p:txBody>
      </p:sp>
      <p:sp>
        <p:nvSpPr>
          <p:cNvPr id="5" name="Google Shape;244;p11">
            <a:extLst>
              <a:ext uri="{FF2B5EF4-FFF2-40B4-BE49-F238E27FC236}">
                <a16:creationId xmlns:a16="http://schemas.microsoft.com/office/drawing/2014/main" id="{51F806C5-4317-EECA-84A4-A05A921D104E}"/>
              </a:ext>
            </a:extLst>
          </p:cNvPr>
          <p:cNvSpPr txBox="1">
            <a:spLocks/>
          </p:cNvSpPr>
          <p:nvPr/>
        </p:nvSpPr>
        <p:spPr>
          <a:xfrm>
            <a:off x="478231" y="387037"/>
            <a:ext cx="11052600" cy="588000"/>
          </a:xfrm>
          <a:prstGeom prst="rect">
            <a:avLst/>
          </a:prstGeom>
          <a:solidFill>
            <a:srgbClr val="C9DAF8"/>
          </a:solid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2800"/>
            </a:pPr>
            <a:r>
              <a:rPr lang="en-US" sz="3600" dirty="0"/>
              <a:t>Coding </a:t>
            </a:r>
            <a:endParaRPr lang="en-IN" sz="3600" dirty="0"/>
          </a:p>
        </p:txBody>
      </p:sp>
      <p:pic>
        <p:nvPicPr>
          <p:cNvPr id="13" name="Picture 12">
            <a:extLst>
              <a:ext uri="{FF2B5EF4-FFF2-40B4-BE49-F238E27FC236}">
                <a16:creationId xmlns:a16="http://schemas.microsoft.com/office/drawing/2014/main" id="{37ACC1C4-81D7-FFE8-3204-80D23272654E}"/>
              </a:ext>
            </a:extLst>
          </p:cNvPr>
          <p:cNvPicPr>
            <a:picLocks noChangeAspect="1"/>
          </p:cNvPicPr>
          <p:nvPr/>
        </p:nvPicPr>
        <p:blipFill>
          <a:blip r:embed="rId3"/>
          <a:stretch>
            <a:fillRect/>
          </a:stretch>
        </p:blipFill>
        <p:spPr>
          <a:xfrm>
            <a:off x="5656520" y="1162293"/>
            <a:ext cx="6071191" cy="4675423"/>
          </a:xfrm>
          <a:prstGeom prst="rect">
            <a:avLst/>
          </a:prstGeom>
        </p:spPr>
      </p:pic>
      <p:sp>
        <p:nvSpPr>
          <p:cNvPr id="14" name="Footer Placeholder 1">
            <a:extLst>
              <a:ext uri="{FF2B5EF4-FFF2-40B4-BE49-F238E27FC236}">
                <a16:creationId xmlns:a16="http://schemas.microsoft.com/office/drawing/2014/main" id="{1CEFB407-B8FD-1101-D4F5-71B11C03BA6A}"/>
              </a:ext>
            </a:extLst>
          </p:cNvPr>
          <p:cNvSpPr>
            <a:spLocks noGrp="1"/>
          </p:cNvSpPr>
          <p:nvPr/>
        </p:nvSpPr>
        <p:spPr>
          <a:xfrm>
            <a:off x="2750731" y="6024972"/>
            <a:ext cx="6690538" cy="770701"/>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III </a:t>
            </a:r>
            <a:r>
              <a:rPr lang="en-US" dirty="0" err="1"/>
              <a:t>B.Tech</a:t>
            </a:r>
            <a:r>
              <a:rPr lang="en-US" dirty="0"/>
              <a:t> (CSE-D) Industrial Oriented Mini Project (IOMP) Presentation Review-2,</a:t>
            </a:r>
          </a:p>
          <a:p>
            <a:r>
              <a:rPr lang="en-US" dirty="0"/>
              <a:t> CSE Dept, CVR college of Engineering</a:t>
            </a:r>
          </a:p>
        </p:txBody>
      </p:sp>
    </p:spTree>
    <p:extLst>
      <p:ext uri="{BB962C8B-B14F-4D97-AF65-F5344CB8AC3E}">
        <p14:creationId xmlns:p14="http://schemas.microsoft.com/office/powerpoint/2010/main" val="23898062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A2D73-84AC-41C3-C12D-04A2BBCEA0E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F5EC29C9-7D43-B194-D0BA-9243416B5A70}"/>
              </a:ext>
            </a:extLst>
          </p:cNvPr>
          <p:cNvSpPr>
            <a:spLocks noGrp="1"/>
          </p:cNvSpPr>
          <p:nvPr>
            <p:ph type="body" idx="1"/>
          </p:nvPr>
        </p:nvSpPr>
        <p:spPr>
          <a:xfrm>
            <a:off x="478230" y="1068541"/>
            <a:ext cx="5343449" cy="5402421"/>
          </a:xfrm>
        </p:spPr>
        <p:txBody>
          <a:bodyPr>
            <a:normAutofit/>
          </a:bodyPr>
          <a:lstStyle/>
          <a:p>
            <a:pPr marL="114300" indent="0">
              <a:lnSpc>
                <a:spcPct val="150000"/>
              </a:lnSpc>
              <a:buNone/>
            </a:pPr>
            <a:r>
              <a:rPr lang="en-US" sz="3200" b="1" dirty="0"/>
              <a:t>AI Integration via </a:t>
            </a:r>
            <a:r>
              <a:rPr lang="en-US" sz="3200" b="1" dirty="0" err="1"/>
              <a:t>Groq</a:t>
            </a:r>
            <a:r>
              <a:rPr lang="en-US" sz="3200" b="1" dirty="0"/>
              <a:t> API</a:t>
            </a:r>
          </a:p>
          <a:p>
            <a:pPr marL="114300" indent="0">
              <a:lnSpc>
                <a:spcPct val="150000"/>
              </a:lnSpc>
              <a:buNone/>
            </a:pPr>
            <a:r>
              <a:rPr lang="en-US" sz="2000" dirty="0"/>
              <a:t>The system leverages the </a:t>
            </a:r>
            <a:r>
              <a:rPr lang="en-US" sz="2000" dirty="0" err="1"/>
              <a:t>Groq</a:t>
            </a:r>
            <a:r>
              <a:rPr lang="en-US" sz="2000" dirty="0"/>
              <a:t> Cloud API to power its intelligent features (such as the AI Chatbot). By using the Llama-3 model hosted on </a:t>
            </a:r>
            <a:r>
              <a:rPr lang="en-US" sz="2000" dirty="0" err="1"/>
              <a:t>Groq's</a:t>
            </a:r>
            <a:r>
              <a:rPr lang="en-US" sz="2000" dirty="0"/>
              <a:t> LPU (Language Processing Unit) architecture, we achieve high-speed inference for user queries.</a:t>
            </a:r>
          </a:p>
        </p:txBody>
      </p:sp>
      <p:sp>
        <p:nvSpPr>
          <p:cNvPr id="4" name="Slide Number Placeholder 3">
            <a:extLst>
              <a:ext uri="{FF2B5EF4-FFF2-40B4-BE49-F238E27FC236}">
                <a16:creationId xmlns:a16="http://schemas.microsoft.com/office/drawing/2014/main" id="{66FC34A0-53D0-C353-8C43-0D726CB775C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22</a:t>
            </a:fld>
            <a:endParaRPr lang="en-IN"/>
          </a:p>
        </p:txBody>
      </p:sp>
      <p:sp>
        <p:nvSpPr>
          <p:cNvPr id="5" name="Google Shape;244;p11">
            <a:extLst>
              <a:ext uri="{FF2B5EF4-FFF2-40B4-BE49-F238E27FC236}">
                <a16:creationId xmlns:a16="http://schemas.microsoft.com/office/drawing/2014/main" id="{D420E1D1-B5AE-4F0C-014F-EEDE70B65B06}"/>
              </a:ext>
            </a:extLst>
          </p:cNvPr>
          <p:cNvSpPr txBox="1">
            <a:spLocks/>
          </p:cNvSpPr>
          <p:nvPr/>
        </p:nvSpPr>
        <p:spPr>
          <a:xfrm>
            <a:off x="478231" y="387037"/>
            <a:ext cx="11052600" cy="588000"/>
          </a:xfrm>
          <a:prstGeom prst="rect">
            <a:avLst/>
          </a:prstGeom>
          <a:solidFill>
            <a:srgbClr val="C9DAF8"/>
          </a:solid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2800"/>
            </a:pPr>
            <a:r>
              <a:rPr lang="en-US" sz="3600" dirty="0"/>
              <a:t>Coding </a:t>
            </a:r>
            <a:endParaRPr lang="en-IN" sz="3600" dirty="0"/>
          </a:p>
        </p:txBody>
      </p:sp>
      <p:pic>
        <p:nvPicPr>
          <p:cNvPr id="8" name="Picture 7">
            <a:extLst>
              <a:ext uri="{FF2B5EF4-FFF2-40B4-BE49-F238E27FC236}">
                <a16:creationId xmlns:a16="http://schemas.microsoft.com/office/drawing/2014/main" id="{8D03DFFD-1D75-4A0A-5A22-FA3E4DF51DEF}"/>
              </a:ext>
            </a:extLst>
          </p:cNvPr>
          <p:cNvPicPr>
            <a:picLocks noChangeAspect="1"/>
          </p:cNvPicPr>
          <p:nvPr/>
        </p:nvPicPr>
        <p:blipFill>
          <a:blip r:embed="rId3"/>
          <a:stretch>
            <a:fillRect/>
          </a:stretch>
        </p:blipFill>
        <p:spPr>
          <a:xfrm>
            <a:off x="6004531" y="1277389"/>
            <a:ext cx="5611579" cy="4303221"/>
          </a:xfrm>
          <a:prstGeom prst="rect">
            <a:avLst/>
          </a:prstGeom>
        </p:spPr>
      </p:pic>
      <p:sp>
        <p:nvSpPr>
          <p:cNvPr id="9" name="Footer Placeholder 1">
            <a:extLst>
              <a:ext uri="{FF2B5EF4-FFF2-40B4-BE49-F238E27FC236}">
                <a16:creationId xmlns:a16="http://schemas.microsoft.com/office/drawing/2014/main" id="{81F9BF4E-F93D-5EF9-8B13-EB86D2C8FE79}"/>
              </a:ext>
            </a:extLst>
          </p:cNvPr>
          <p:cNvSpPr>
            <a:spLocks noGrp="1"/>
          </p:cNvSpPr>
          <p:nvPr/>
        </p:nvSpPr>
        <p:spPr>
          <a:xfrm>
            <a:off x="2750731" y="6024972"/>
            <a:ext cx="6690538" cy="770701"/>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III </a:t>
            </a:r>
            <a:r>
              <a:rPr lang="en-US" dirty="0" err="1"/>
              <a:t>B.Tech</a:t>
            </a:r>
            <a:r>
              <a:rPr lang="en-US" dirty="0"/>
              <a:t> (CSE-D) Industrial Oriented Mini Project (IOMP) Presentation Review-2,</a:t>
            </a:r>
          </a:p>
          <a:p>
            <a:r>
              <a:rPr lang="en-US" dirty="0"/>
              <a:t> CSE Dept, CVR college of Engineering</a:t>
            </a:r>
          </a:p>
        </p:txBody>
      </p:sp>
    </p:spTree>
    <p:extLst>
      <p:ext uri="{BB962C8B-B14F-4D97-AF65-F5344CB8AC3E}">
        <p14:creationId xmlns:p14="http://schemas.microsoft.com/office/powerpoint/2010/main" val="25437743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7B0B5-93CF-AF4E-B50A-6D3F5381B726}"/>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513BF92-E247-C7D4-8F44-081390E1435E}"/>
              </a:ext>
            </a:extLst>
          </p:cNvPr>
          <p:cNvSpPr>
            <a:spLocks noGrp="1"/>
          </p:cNvSpPr>
          <p:nvPr>
            <p:ph type="body" idx="1"/>
          </p:nvPr>
        </p:nvSpPr>
        <p:spPr>
          <a:xfrm>
            <a:off x="478230" y="1068541"/>
            <a:ext cx="5343449" cy="5402421"/>
          </a:xfrm>
        </p:spPr>
        <p:txBody>
          <a:bodyPr>
            <a:normAutofit/>
          </a:bodyPr>
          <a:lstStyle/>
          <a:p>
            <a:pPr marL="114300" indent="0">
              <a:lnSpc>
                <a:spcPct val="150000"/>
              </a:lnSpc>
              <a:buNone/>
            </a:pPr>
            <a:r>
              <a:rPr lang="en-US" b="1" dirty="0"/>
              <a:t>Secure Authentication: OTP via SendGrid</a:t>
            </a:r>
          </a:p>
          <a:p>
            <a:pPr marL="114300" indent="0">
              <a:lnSpc>
                <a:spcPct val="150000"/>
              </a:lnSpc>
              <a:buNone/>
            </a:pPr>
            <a:r>
              <a:rPr lang="en-US" sz="2000" dirty="0"/>
              <a:t>Security is maintained through a Multi-Factor Authentication (MFA) layer. We utilize the SendGrid Mail API to deliver time-sensitive One-Time Passwords (OTPs) to login student and faculty college email address.</a:t>
            </a:r>
          </a:p>
        </p:txBody>
      </p:sp>
      <p:sp>
        <p:nvSpPr>
          <p:cNvPr id="4" name="Slide Number Placeholder 3">
            <a:extLst>
              <a:ext uri="{FF2B5EF4-FFF2-40B4-BE49-F238E27FC236}">
                <a16:creationId xmlns:a16="http://schemas.microsoft.com/office/drawing/2014/main" id="{21822A2C-F966-6D8B-8AE0-35C3BD2FD3A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23</a:t>
            </a:fld>
            <a:endParaRPr lang="en-IN"/>
          </a:p>
        </p:txBody>
      </p:sp>
      <p:sp>
        <p:nvSpPr>
          <p:cNvPr id="5" name="Google Shape;244;p11">
            <a:extLst>
              <a:ext uri="{FF2B5EF4-FFF2-40B4-BE49-F238E27FC236}">
                <a16:creationId xmlns:a16="http://schemas.microsoft.com/office/drawing/2014/main" id="{46C54DE5-11E7-7116-7B0F-1EE92212B108}"/>
              </a:ext>
            </a:extLst>
          </p:cNvPr>
          <p:cNvSpPr txBox="1">
            <a:spLocks/>
          </p:cNvSpPr>
          <p:nvPr/>
        </p:nvSpPr>
        <p:spPr>
          <a:xfrm>
            <a:off x="478231" y="387037"/>
            <a:ext cx="11052600" cy="588000"/>
          </a:xfrm>
          <a:prstGeom prst="rect">
            <a:avLst/>
          </a:prstGeom>
          <a:solidFill>
            <a:srgbClr val="C9DAF8"/>
          </a:solid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2800"/>
            </a:pPr>
            <a:r>
              <a:rPr lang="en-US" sz="3600" dirty="0"/>
              <a:t>Coding </a:t>
            </a:r>
            <a:endParaRPr lang="en-IN" sz="3600" dirty="0"/>
          </a:p>
        </p:txBody>
      </p:sp>
      <p:pic>
        <p:nvPicPr>
          <p:cNvPr id="7" name="Picture 6">
            <a:extLst>
              <a:ext uri="{FF2B5EF4-FFF2-40B4-BE49-F238E27FC236}">
                <a16:creationId xmlns:a16="http://schemas.microsoft.com/office/drawing/2014/main" id="{28ADE26E-2DEA-AF0D-A7BD-CFDE91675466}"/>
              </a:ext>
            </a:extLst>
          </p:cNvPr>
          <p:cNvPicPr>
            <a:picLocks noChangeAspect="1"/>
          </p:cNvPicPr>
          <p:nvPr/>
        </p:nvPicPr>
        <p:blipFill>
          <a:blip r:embed="rId3"/>
          <a:stretch>
            <a:fillRect/>
          </a:stretch>
        </p:blipFill>
        <p:spPr>
          <a:xfrm>
            <a:off x="5821680" y="1190626"/>
            <a:ext cx="6054888" cy="4762913"/>
          </a:xfrm>
          <a:prstGeom prst="rect">
            <a:avLst/>
          </a:prstGeom>
        </p:spPr>
      </p:pic>
      <p:sp>
        <p:nvSpPr>
          <p:cNvPr id="9" name="Footer Placeholder 1">
            <a:extLst>
              <a:ext uri="{FF2B5EF4-FFF2-40B4-BE49-F238E27FC236}">
                <a16:creationId xmlns:a16="http://schemas.microsoft.com/office/drawing/2014/main" id="{1EA2D45A-F01E-B7B2-9ED5-416492F05179}"/>
              </a:ext>
            </a:extLst>
          </p:cNvPr>
          <p:cNvSpPr>
            <a:spLocks noGrp="1"/>
          </p:cNvSpPr>
          <p:nvPr/>
        </p:nvSpPr>
        <p:spPr>
          <a:xfrm>
            <a:off x="2750731" y="6024972"/>
            <a:ext cx="6690538" cy="770701"/>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III </a:t>
            </a:r>
            <a:r>
              <a:rPr lang="en-US" dirty="0" err="1"/>
              <a:t>B.Tech</a:t>
            </a:r>
            <a:r>
              <a:rPr lang="en-US" dirty="0"/>
              <a:t> (CSE-D) Industrial Oriented Mini Project (IOMP) Presentation Review-2,</a:t>
            </a:r>
          </a:p>
          <a:p>
            <a:r>
              <a:rPr lang="en-US" dirty="0"/>
              <a:t> CSE Dept, CVR college of Engineering</a:t>
            </a:r>
          </a:p>
        </p:txBody>
      </p:sp>
    </p:spTree>
    <p:extLst>
      <p:ext uri="{BB962C8B-B14F-4D97-AF65-F5344CB8AC3E}">
        <p14:creationId xmlns:p14="http://schemas.microsoft.com/office/powerpoint/2010/main" val="35478074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88BCE-D621-C093-4B17-3C4FA8616529}"/>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C7AC1890-0A79-BA22-B4FD-71578242645B}"/>
              </a:ext>
            </a:extLst>
          </p:cNvPr>
          <p:cNvSpPr>
            <a:spLocks noGrp="1"/>
          </p:cNvSpPr>
          <p:nvPr>
            <p:ph type="body" idx="1"/>
          </p:nvPr>
        </p:nvSpPr>
        <p:spPr>
          <a:xfrm>
            <a:off x="361272" y="727789"/>
            <a:ext cx="10313817" cy="5402421"/>
          </a:xfrm>
        </p:spPr>
        <p:txBody>
          <a:bodyPr>
            <a:normAutofit/>
          </a:bodyPr>
          <a:lstStyle/>
          <a:p>
            <a:pPr marL="114300" indent="0">
              <a:lnSpc>
                <a:spcPct val="150000"/>
              </a:lnSpc>
              <a:buNone/>
            </a:pPr>
            <a:r>
              <a:rPr lang="en-US" sz="2400" b="1" dirty="0" err="1"/>
              <a:t>nnn</a:t>
            </a:r>
            <a:endParaRPr lang="en-US" sz="2400" b="1" dirty="0"/>
          </a:p>
        </p:txBody>
      </p:sp>
      <p:sp>
        <p:nvSpPr>
          <p:cNvPr id="4" name="Slide Number Placeholder 3">
            <a:extLst>
              <a:ext uri="{FF2B5EF4-FFF2-40B4-BE49-F238E27FC236}">
                <a16:creationId xmlns:a16="http://schemas.microsoft.com/office/drawing/2014/main" id="{F84008F5-FC44-E83E-95A0-4193C68F64F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24</a:t>
            </a:fld>
            <a:endParaRPr lang="en-IN"/>
          </a:p>
        </p:txBody>
      </p:sp>
      <p:sp>
        <p:nvSpPr>
          <p:cNvPr id="5" name="Google Shape;244;p11">
            <a:extLst>
              <a:ext uri="{FF2B5EF4-FFF2-40B4-BE49-F238E27FC236}">
                <a16:creationId xmlns:a16="http://schemas.microsoft.com/office/drawing/2014/main" id="{6DAE5B28-194E-65D9-E05A-5C84B9843A77}"/>
              </a:ext>
            </a:extLst>
          </p:cNvPr>
          <p:cNvSpPr txBox="1">
            <a:spLocks/>
          </p:cNvSpPr>
          <p:nvPr/>
        </p:nvSpPr>
        <p:spPr>
          <a:xfrm>
            <a:off x="478231" y="387037"/>
            <a:ext cx="11052600" cy="588000"/>
          </a:xfrm>
          <a:prstGeom prst="rect">
            <a:avLst/>
          </a:prstGeom>
          <a:solidFill>
            <a:srgbClr val="C9DAF8"/>
          </a:solid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2800"/>
            </a:pPr>
            <a:r>
              <a:rPr lang="en-US" sz="3600" dirty="0"/>
              <a:t>Results (Expected output)</a:t>
            </a:r>
            <a:endParaRPr lang="en-IN" sz="3600" dirty="0"/>
          </a:p>
        </p:txBody>
      </p:sp>
      <p:sp>
        <p:nvSpPr>
          <p:cNvPr id="8" name="Footer Placeholder 1">
            <a:extLst>
              <a:ext uri="{FF2B5EF4-FFF2-40B4-BE49-F238E27FC236}">
                <a16:creationId xmlns:a16="http://schemas.microsoft.com/office/drawing/2014/main" id="{BDDEA9C1-71B8-906B-F346-CF2C90F43944}"/>
              </a:ext>
            </a:extLst>
          </p:cNvPr>
          <p:cNvSpPr>
            <a:spLocks noGrp="1"/>
          </p:cNvSpPr>
          <p:nvPr/>
        </p:nvSpPr>
        <p:spPr>
          <a:xfrm>
            <a:off x="2750731" y="6024972"/>
            <a:ext cx="6690538" cy="770701"/>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III </a:t>
            </a:r>
            <a:r>
              <a:rPr lang="en-US" dirty="0" err="1"/>
              <a:t>B.Tech</a:t>
            </a:r>
            <a:r>
              <a:rPr lang="en-US" dirty="0"/>
              <a:t> (CSE-D) Industrial Oriented Mini Project (IOMP) Presentation Review-2,</a:t>
            </a:r>
          </a:p>
          <a:p>
            <a:r>
              <a:rPr lang="en-US" dirty="0"/>
              <a:t> CSE Dept, CVR college of Engineering</a:t>
            </a:r>
          </a:p>
        </p:txBody>
      </p:sp>
      <p:pic>
        <p:nvPicPr>
          <p:cNvPr id="7" name="Picture 6">
            <a:extLst>
              <a:ext uri="{FF2B5EF4-FFF2-40B4-BE49-F238E27FC236}">
                <a16:creationId xmlns:a16="http://schemas.microsoft.com/office/drawing/2014/main" id="{B35BE99E-CF6D-27FD-E32D-DF823CF9DDCB}"/>
              </a:ext>
            </a:extLst>
          </p:cNvPr>
          <p:cNvPicPr>
            <a:picLocks noChangeAspect="1"/>
          </p:cNvPicPr>
          <p:nvPr/>
        </p:nvPicPr>
        <p:blipFill>
          <a:blip r:embed="rId3"/>
          <a:stretch>
            <a:fillRect/>
          </a:stretch>
        </p:blipFill>
        <p:spPr>
          <a:xfrm>
            <a:off x="478231" y="1052504"/>
            <a:ext cx="10190480" cy="4972468"/>
          </a:xfrm>
          <a:prstGeom prst="rect">
            <a:avLst/>
          </a:prstGeom>
        </p:spPr>
      </p:pic>
    </p:spTree>
    <p:extLst>
      <p:ext uri="{BB962C8B-B14F-4D97-AF65-F5344CB8AC3E}">
        <p14:creationId xmlns:p14="http://schemas.microsoft.com/office/powerpoint/2010/main" val="37727882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286C0-E0AF-AFFE-CE15-43025D6C328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A30E482-954D-30C8-450A-7F6EEA90912B}"/>
              </a:ext>
            </a:extLst>
          </p:cNvPr>
          <p:cNvSpPr>
            <a:spLocks noGrp="1"/>
          </p:cNvSpPr>
          <p:nvPr>
            <p:ph type="body" idx="1"/>
          </p:nvPr>
        </p:nvSpPr>
        <p:spPr>
          <a:xfrm>
            <a:off x="361272" y="727789"/>
            <a:ext cx="10313817" cy="5402421"/>
          </a:xfrm>
        </p:spPr>
        <p:txBody>
          <a:bodyPr>
            <a:normAutofit/>
          </a:bodyPr>
          <a:lstStyle/>
          <a:p>
            <a:pPr marL="114300" indent="0">
              <a:lnSpc>
                <a:spcPct val="150000"/>
              </a:lnSpc>
              <a:buNone/>
            </a:pPr>
            <a:r>
              <a:rPr lang="en-US" sz="2400" b="1" dirty="0"/>
              <a:t>  </a:t>
            </a:r>
          </a:p>
        </p:txBody>
      </p:sp>
      <p:sp>
        <p:nvSpPr>
          <p:cNvPr id="4" name="Slide Number Placeholder 3">
            <a:extLst>
              <a:ext uri="{FF2B5EF4-FFF2-40B4-BE49-F238E27FC236}">
                <a16:creationId xmlns:a16="http://schemas.microsoft.com/office/drawing/2014/main" id="{0E3F3540-F113-1B96-D899-8134FB24EDD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25</a:t>
            </a:fld>
            <a:endParaRPr lang="en-IN"/>
          </a:p>
        </p:txBody>
      </p:sp>
      <p:sp>
        <p:nvSpPr>
          <p:cNvPr id="5" name="Google Shape;244;p11">
            <a:extLst>
              <a:ext uri="{FF2B5EF4-FFF2-40B4-BE49-F238E27FC236}">
                <a16:creationId xmlns:a16="http://schemas.microsoft.com/office/drawing/2014/main" id="{9E7B5903-6DFA-C0A8-A652-86BE20FD09DE}"/>
              </a:ext>
            </a:extLst>
          </p:cNvPr>
          <p:cNvSpPr txBox="1">
            <a:spLocks/>
          </p:cNvSpPr>
          <p:nvPr/>
        </p:nvSpPr>
        <p:spPr>
          <a:xfrm>
            <a:off x="478231" y="387037"/>
            <a:ext cx="11052600" cy="588000"/>
          </a:xfrm>
          <a:prstGeom prst="rect">
            <a:avLst/>
          </a:prstGeom>
          <a:solidFill>
            <a:srgbClr val="C9DAF8"/>
          </a:solid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2800"/>
            </a:pPr>
            <a:r>
              <a:rPr lang="en-US" sz="3600" dirty="0"/>
              <a:t>Results (Expected output)</a:t>
            </a:r>
            <a:endParaRPr lang="en-IN" sz="3600" dirty="0"/>
          </a:p>
        </p:txBody>
      </p:sp>
      <p:sp>
        <p:nvSpPr>
          <p:cNvPr id="8" name="Footer Placeholder 1">
            <a:extLst>
              <a:ext uri="{FF2B5EF4-FFF2-40B4-BE49-F238E27FC236}">
                <a16:creationId xmlns:a16="http://schemas.microsoft.com/office/drawing/2014/main" id="{90FD080E-DD7B-9193-AC60-B3B590C52E39}"/>
              </a:ext>
            </a:extLst>
          </p:cNvPr>
          <p:cNvSpPr>
            <a:spLocks noGrp="1"/>
          </p:cNvSpPr>
          <p:nvPr/>
        </p:nvSpPr>
        <p:spPr>
          <a:xfrm>
            <a:off x="2750731" y="6024972"/>
            <a:ext cx="6690538" cy="770701"/>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III </a:t>
            </a:r>
            <a:r>
              <a:rPr lang="en-US" dirty="0" err="1"/>
              <a:t>B.Tech</a:t>
            </a:r>
            <a:r>
              <a:rPr lang="en-US" dirty="0"/>
              <a:t> (CSE-D) Industrial Oriented Mini Project (IOMP) Presentation Review-2,</a:t>
            </a:r>
          </a:p>
          <a:p>
            <a:r>
              <a:rPr lang="en-US" dirty="0"/>
              <a:t> CSE Dept, CVR college of Engineering</a:t>
            </a:r>
          </a:p>
        </p:txBody>
      </p:sp>
      <p:pic>
        <p:nvPicPr>
          <p:cNvPr id="6" name="Picture 5">
            <a:extLst>
              <a:ext uri="{FF2B5EF4-FFF2-40B4-BE49-F238E27FC236}">
                <a16:creationId xmlns:a16="http://schemas.microsoft.com/office/drawing/2014/main" id="{59609D92-A3E7-CFF5-812F-9696AAC3C902}"/>
              </a:ext>
            </a:extLst>
          </p:cNvPr>
          <p:cNvPicPr>
            <a:picLocks noChangeAspect="1"/>
          </p:cNvPicPr>
          <p:nvPr/>
        </p:nvPicPr>
        <p:blipFill>
          <a:blip r:embed="rId3"/>
          <a:stretch>
            <a:fillRect/>
          </a:stretch>
        </p:blipFill>
        <p:spPr>
          <a:xfrm>
            <a:off x="478231" y="1024182"/>
            <a:ext cx="10850880" cy="5000790"/>
          </a:xfrm>
          <a:prstGeom prst="rect">
            <a:avLst/>
          </a:prstGeom>
        </p:spPr>
      </p:pic>
    </p:spTree>
    <p:extLst>
      <p:ext uri="{BB962C8B-B14F-4D97-AF65-F5344CB8AC3E}">
        <p14:creationId xmlns:p14="http://schemas.microsoft.com/office/powerpoint/2010/main" val="14790198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F9C8C-D3AF-B423-4946-0FF28B0226D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C4F9B04-832B-8453-F48C-3B95FA7624EF}"/>
              </a:ext>
            </a:extLst>
          </p:cNvPr>
          <p:cNvSpPr>
            <a:spLocks noGrp="1"/>
          </p:cNvSpPr>
          <p:nvPr>
            <p:ph type="body" idx="1"/>
          </p:nvPr>
        </p:nvSpPr>
        <p:spPr>
          <a:xfrm>
            <a:off x="361272" y="727789"/>
            <a:ext cx="10313817" cy="5402421"/>
          </a:xfrm>
        </p:spPr>
        <p:txBody>
          <a:bodyPr>
            <a:normAutofit/>
          </a:bodyPr>
          <a:lstStyle/>
          <a:p>
            <a:pPr marL="114300" indent="0">
              <a:lnSpc>
                <a:spcPct val="150000"/>
              </a:lnSpc>
              <a:buNone/>
            </a:pPr>
            <a:r>
              <a:rPr lang="en-US" b="1" dirty="0"/>
              <a:t>Dashboards:</a:t>
            </a:r>
            <a:endParaRPr lang="en-US" sz="2400" b="1" dirty="0"/>
          </a:p>
        </p:txBody>
      </p:sp>
      <p:sp>
        <p:nvSpPr>
          <p:cNvPr id="4" name="Slide Number Placeholder 3">
            <a:extLst>
              <a:ext uri="{FF2B5EF4-FFF2-40B4-BE49-F238E27FC236}">
                <a16:creationId xmlns:a16="http://schemas.microsoft.com/office/drawing/2014/main" id="{4B4A73E8-E9B5-4A3A-A1CC-40F522A4F8C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26</a:t>
            </a:fld>
            <a:endParaRPr lang="en-IN"/>
          </a:p>
        </p:txBody>
      </p:sp>
      <p:sp>
        <p:nvSpPr>
          <p:cNvPr id="5" name="Google Shape;244;p11">
            <a:extLst>
              <a:ext uri="{FF2B5EF4-FFF2-40B4-BE49-F238E27FC236}">
                <a16:creationId xmlns:a16="http://schemas.microsoft.com/office/drawing/2014/main" id="{C275937D-AA42-9EC7-9E19-A473F5EC8C32}"/>
              </a:ext>
            </a:extLst>
          </p:cNvPr>
          <p:cNvSpPr txBox="1">
            <a:spLocks/>
          </p:cNvSpPr>
          <p:nvPr/>
        </p:nvSpPr>
        <p:spPr>
          <a:xfrm>
            <a:off x="478231" y="387037"/>
            <a:ext cx="11052600" cy="588000"/>
          </a:xfrm>
          <a:prstGeom prst="rect">
            <a:avLst/>
          </a:prstGeom>
          <a:solidFill>
            <a:srgbClr val="C9DAF8"/>
          </a:solid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2800"/>
            </a:pPr>
            <a:r>
              <a:rPr lang="en-US" sz="3600" dirty="0"/>
              <a:t>Results (Expected output)</a:t>
            </a:r>
            <a:endParaRPr lang="en-IN" sz="3600" dirty="0"/>
          </a:p>
        </p:txBody>
      </p:sp>
      <p:sp>
        <p:nvSpPr>
          <p:cNvPr id="2" name="Footer Placeholder 1">
            <a:extLst>
              <a:ext uri="{FF2B5EF4-FFF2-40B4-BE49-F238E27FC236}">
                <a16:creationId xmlns:a16="http://schemas.microsoft.com/office/drawing/2014/main" id="{EAD946E6-2338-6406-BDDA-B6F23DF8663E}"/>
              </a:ext>
            </a:extLst>
          </p:cNvPr>
          <p:cNvSpPr>
            <a:spLocks noGrp="1"/>
          </p:cNvSpPr>
          <p:nvPr/>
        </p:nvSpPr>
        <p:spPr>
          <a:xfrm>
            <a:off x="2750731" y="6024972"/>
            <a:ext cx="6690538" cy="770701"/>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III </a:t>
            </a:r>
            <a:r>
              <a:rPr lang="en-US" dirty="0" err="1"/>
              <a:t>B.Tech</a:t>
            </a:r>
            <a:r>
              <a:rPr lang="en-US" dirty="0"/>
              <a:t> (CSE-D) Industrial Oriented Mini Project (IOMP) Presentation Review-2,</a:t>
            </a:r>
          </a:p>
          <a:p>
            <a:r>
              <a:rPr lang="en-US" dirty="0"/>
              <a:t> CSE Dept, CVR college of Engineering</a:t>
            </a:r>
          </a:p>
        </p:txBody>
      </p:sp>
    </p:spTree>
    <p:extLst>
      <p:ext uri="{BB962C8B-B14F-4D97-AF65-F5344CB8AC3E}">
        <p14:creationId xmlns:p14="http://schemas.microsoft.com/office/powerpoint/2010/main" val="33783693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11"/>
          <p:cNvSpPr txBox="1">
            <a:spLocks noGrp="1"/>
          </p:cNvSpPr>
          <p:nvPr>
            <p:ph type="title"/>
          </p:nvPr>
        </p:nvSpPr>
        <p:spPr>
          <a:xfrm>
            <a:off x="301250" y="226303"/>
            <a:ext cx="11052600" cy="588000"/>
          </a:xfrm>
          <a:prstGeom prst="rect">
            <a:avLst/>
          </a:prstGeom>
          <a:solidFill>
            <a:srgbClr val="C9DAF8"/>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800"/>
              <a:buNone/>
            </a:pPr>
            <a:r>
              <a:rPr lang="en-IN" sz="3600"/>
              <a:t>Conclusion</a:t>
            </a:r>
            <a:endParaRPr sz="3600" b="1">
              <a:solidFill>
                <a:schemeClr val="dk1"/>
              </a:solidFill>
            </a:endParaRPr>
          </a:p>
        </p:txBody>
      </p:sp>
      <p:cxnSp>
        <p:nvCxnSpPr>
          <p:cNvPr id="245" name="Google Shape;245;p11"/>
          <p:cNvCxnSpPr/>
          <p:nvPr/>
        </p:nvCxnSpPr>
        <p:spPr>
          <a:xfrm rot="10800000" flipH="1">
            <a:off x="301250" y="814304"/>
            <a:ext cx="11052600" cy="36000"/>
          </a:xfrm>
          <a:prstGeom prst="straightConnector1">
            <a:avLst/>
          </a:prstGeom>
          <a:noFill/>
          <a:ln w="28575" cap="flat" cmpd="sng">
            <a:solidFill>
              <a:srgbClr val="222A35"/>
            </a:solidFill>
            <a:prstDash val="solid"/>
            <a:miter lim="800000"/>
            <a:headEnd type="none" w="sm" len="sm"/>
            <a:tailEnd type="none" w="sm" len="sm"/>
          </a:ln>
        </p:spPr>
      </p:cxnSp>
      <p:sp>
        <p:nvSpPr>
          <p:cNvPr id="246" name="Google Shape;246;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en-IN" sz="1600" b="1"/>
              <a:t>27</a:t>
            </a:fld>
            <a:endParaRPr sz="1600" b="1"/>
          </a:p>
        </p:txBody>
      </p:sp>
      <p:sp>
        <p:nvSpPr>
          <p:cNvPr id="247" name="Google Shape;247;p11"/>
          <p:cNvSpPr txBox="1">
            <a:spLocks noGrp="1"/>
          </p:cNvSpPr>
          <p:nvPr>
            <p:ph type="body" idx="1"/>
          </p:nvPr>
        </p:nvSpPr>
        <p:spPr>
          <a:xfrm>
            <a:off x="301250" y="833725"/>
            <a:ext cx="11052600" cy="5649000"/>
          </a:xfrm>
          <a:prstGeom prst="rect">
            <a:avLst/>
          </a:prstGeom>
          <a:noFill/>
          <a:ln>
            <a:noFill/>
          </a:ln>
        </p:spPr>
        <p:txBody>
          <a:bodyPr spcFirstLastPara="1" wrap="square" lIns="91425" tIns="45700" rIns="91425" bIns="45700" anchor="ctr" anchorCtr="0">
            <a:spAutoFit/>
          </a:bodyPr>
          <a:lstStyle/>
          <a:p>
            <a:pPr marL="0" marR="0" lvl="0" indent="-152400" algn="just" rtl="0">
              <a:lnSpc>
                <a:spcPct val="100000"/>
              </a:lnSpc>
              <a:spcBef>
                <a:spcPts val="0"/>
              </a:spcBef>
              <a:spcAft>
                <a:spcPts val="0"/>
              </a:spcAft>
              <a:buClr>
                <a:schemeClr val="dk1"/>
              </a:buClr>
              <a:buSzPts val="2400"/>
              <a:buFont typeface="Arial"/>
              <a:buChar char="•"/>
            </a:pPr>
            <a:r>
              <a:rPr lang="en-IN" sz="2400" b="0" i="0" u="none" strike="noStrike" cap="none" dirty="0">
                <a:solidFill>
                  <a:schemeClr val="dk1"/>
                </a:solidFill>
                <a:latin typeface="Arial"/>
                <a:ea typeface="Arial"/>
                <a:cs typeface="Arial"/>
                <a:sym typeface="Arial"/>
              </a:rPr>
              <a:t>The </a:t>
            </a:r>
            <a:r>
              <a:rPr lang="en-IN" sz="2400" b="1" i="0" u="none" strike="noStrike" cap="none" dirty="0">
                <a:solidFill>
                  <a:schemeClr val="dk1"/>
                </a:solidFill>
                <a:latin typeface="Arial"/>
                <a:ea typeface="Arial"/>
                <a:cs typeface="Arial"/>
                <a:sym typeface="Arial"/>
              </a:rPr>
              <a:t>AI Integrated College Management System</a:t>
            </a:r>
            <a:r>
              <a:rPr lang="en-IN" sz="2400" b="0" i="0" u="none" strike="noStrike" cap="none" dirty="0">
                <a:solidFill>
                  <a:schemeClr val="dk1"/>
                </a:solidFill>
                <a:latin typeface="Arial"/>
                <a:ea typeface="Arial"/>
                <a:cs typeface="Arial"/>
                <a:sym typeface="Arial"/>
              </a:rPr>
              <a:t> provides a centralized </a:t>
            </a:r>
            <a:r>
              <a:rPr lang="en-IN" sz="2400" dirty="0">
                <a:solidFill>
                  <a:schemeClr val="dk1"/>
                </a:solidFill>
                <a:latin typeface="Arial"/>
                <a:ea typeface="Arial"/>
                <a:cs typeface="Arial"/>
                <a:sym typeface="Arial"/>
              </a:rPr>
              <a:t>     </a:t>
            </a:r>
            <a:r>
              <a:rPr lang="en-IN" sz="2400" b="0" i="0" u="none" strike="noStrike" cap="none" dirty="0">
                <a:solidFill>
                  <a:schemeClr val="dk1"/>
                </a:solidFill>
                <a:latin typeface="Arial"/>
                <a:ea typeface="Arial"/>
                <a:cs typeface="Arial"/>
                <a:sym typeface="Arial"/>
              </a:rPr>
              <a:t>platform to manage academic and administrative activities efficiently.</a:t>
            </a:r>
            <a:endParaRPr sz="2400" b="0" i="0" u="none" strike="noStrike" cap="none" dirty="0">
              <a:solidFill>
                <a:schemeClr val="dk1"/>
              </a:solidFill>
              <a:latin typeface="Arial"/>
              <a:ea typeface="Arial"/>
              <a:cs typeface="Arial"/>
              <a:sym typeface="Arial"/>
            </a:endParaRPr>
          </a:p>
          <a:p>
            <a:pPr marL="457200" marR="0" lvl="0" indent="0" algn="just" rtl="0">
              <a:lnSpc>
                <a:spcPct val="100000"/>
              </a:lnSpc>
              <a:spcBef>
                <a:spcPts val="0"/>
              </a:spcBef>
              <a:spcAft>
                <a:spcPts val="0"/>
              </a:spcAft>
              <a:buNone/>
            </a:pPr>
            <a:endParaRPr lang="en-IN" sz="500" dirty="0">
              <a:latin typeface="Arial"/>
              <a:ea typeface="Arial"/>
              <a:cs typeface="Arial"/>
              <a:sym typeface="Arial"/>
            </a:endParaRPr>
          </a:p>
          <a:p>
            <a:pPr marL="457200" marR="0" lvl="0" indent="0" algn="just" rtl="0">
              <a:lnSpc>
                <a:spcPct val="100000"/>
              </a:lnSpc>
              <a:spcBef>
                <a:spcPts val="0"/>
              </a:spcBef>
              <a:spcAft>
                <a:spcPts val="0"/>
              </a:spcAft>
              <a:buNone/>
            </a:pPr>
            <a:endParaRPr sz="300" dirty="0">
              <a:latin typeface="Arial"/>
              <a:ea typeface="Arial"/>
              <a:cs typeface="Arial"/>
              <a:sym typeface="Arial"/>
            </a:endParaRPr>
          </a:p>
          <a:p>
            <a:pPr marL="0" marR="0" lvl="0" indent="-152400" algn="just" rtl="0">
              <a:lnSpc>
                <a:spcPct val="100000"/>
              </a:lnSpc>
              <a:spcBef>
                <a:spcPts val="600"/>
              </a:spcBef>
              <a:spcAft>
                <a:spcPts val="0"/>
              </a:spcAft>
              <a:buClr>
                <a:schemeClr val="dk1"/>
              </a:buClr>
              <a:buSzPts val="2400"/>
              <a:buFont typeface="Arial"/>
              <a:buChar char="•"/>
            </a:pPr>
            <a:r>
              <a:rPr lang="en-IN" sz="2400" b="0" i="0" u="none" strike="noStrike" cap="none" dirty="0">
                <a:solidFill>
                  <a:schemeClr val="dk1"/>
                </a:solidFill>
                <a:latin typeface="Arial"/>
                <a:ea typeface="Arial"/>
                <a:cs typeface="Arial"/>
                <a:sym typeface="Arial"/>
              </a:rPr>
              <a:t>It reduces </a:t>
            </a:r>
            <a:r>
              <a:rPr lang="en-IN" sz="2400" b="1" i="0" u="none" strike="noStrike" cap="none" dirty="0">
                <a:solidFill>
                  <a:schemeClr val="dk1"/>
                </a:solidFill>
                <a:latin typeface="Arial"/>
                <a:ea typeface="Arial"/>
                <a:cs typeface="Arial"/>
                <a:sym typeface="Arial"/>
              </a:rPr>
              <a:t>manual work and paperwork</a:t>
            </a:r>
            <a:r>
              <a:rPr lang="en-IN" sz="2400" b="0" i="0" u="none" strike="noStrike" cap="none" dirty="0">
                <a:solidFill>
                  <a:schemeClr val="dk1"/>
                </a:solidFill>
                <a:latin typeface="Arial"/>
                <a:ea typeface="Arial"/>
                <a:cs typeface="Arial"/>
                <a:sym typeface="Arial"/>
              </a:rPr>
              <a:t> by digitizing student records, attendance, results, and academic information.</a:t>
            </a:r>
          </a:p>
          <a:p>
            <a:pPr marL="457200" marR="0" lvl="0" indent="0" algn="just" rtl="0">
              <a:lnSpc>
                <a:spcPct val="100000"/>
              </a:lnSpc>
              <a:spcBef>
                <a:spcPts val="600"/>
              </a:spcBef>
              <a:spcAft>
                <a:spcPts val="0"/>
              </a:spcAft>
              <a:buNone/>
            </a:pPr>
            <a:endParaRPr lang="en-IN" sz="500" dirty="0">
              <a:latin typeface="Arial"/>
              <a:ea typeface="Arial"/>
              <a:cs typeface="Arial"/>
              <a:sym typeface="Arial"/>
            </a:endParaRPr>
          </a:p>
          <a:p>
            <a:pPr marL="0" marR="0" lvl="0" indent="-152400" algn="just" rtl="0">
              <a:lnSpc>
                <a:spcPct val="100000"/>
              </a:lnSpc>
              <a:spcBef>
                <a:spcPts val="600"/>
              </a:spcBef>
              <a:spcAft>
                <a:spcPts val="0"/>
              </a:spcAft>
              <a:buClr>
                <a:schemeClr val="dk1"/>
              </a:buClr>
              <a:buSzPts val="2400"/>
              <a:buFont typeface="Arial"/>
              <a:buChar char="•"/>
            </a:pPr>
            <a:r>
              <a:rPr lang="en-IN" sz="2400" b="0" i="0" u="none" strike="noStrike" cap="none" dirty="0">
                <a:solidFill>
                  <a:schemeClr val="dk1"/>
                </a:solidFill>
                <a:latin typeface="Arial"/>
                <a:ea typeface="Arial"/>
                <a:cs typeface="Arial"/>
                <a:sym typeface="Arial"/>
              </a:rPr>
              <a:t>The system improves </a:t>
            </a:r>
            <a:r>
              <a:rPr lang="en-IN" sz="2400" b="1" i="0" u="none" strike="noStrike" cap="none" dirty="0">
                <a:solidFill>
                  <a:schemeClr val="dk1"/>
                </a:solidFill>
                <a:latin typeface="Arial"/>
                <a:ea typeface="Arial"/>
                <a:cs typeface="Arial"/>
                <a:sym typeface="Arial"/>
              </a:rPr>
              <a:t>communication between students, faculty, and administrators</a:t>
            </a:r>
            <a:r>
              <a:rPr lang="en-IN" sz="2400" b="0" i="0" u="none" strike="noStrike" cap="none" dirty="0">
                <a:solidFill>
                  <a:schemeClr val="dk1"/>
                </a:solidFill>
                <a:latin typeface="Arial"/>
                <a:ea typeface="Arial"/>
                <a:cs typeface="Arial"/>
                <a:sym typeface="Arial"/>
              </a:rPr>
              <a:t> through a real-time chat system.</a:t>
            </a:r>
          </a:p>
          <a:p>
            <a:pPr marL="457200" marR="0" lvl="0" indent="0" algn="just" rtl="0">
              <a:lnSpc>
                <a:spcPct val="100000"/>
              </a:lnSpc>
              <a:spcBef>
                <a:spcPts val="600"/>
              </a:spcBef>
              <a:spcAft>
                <a:spcPts val="0"/>
              </a:spcAft>
              <a:buNone/>
            </a:pPr>
            <a:endParaRPr lang="en-IN" sz="500" dirty="0">
              <a:latin typeface="Arial"/>
              <a:ea typeface="Arial"/>
              <a:cs typeface="Arial"/>
              <a:sym typeface="Arial"/>
            </a:endParaRPr>
          </a:p>
          <a:p>
            <a:pPr marL="0" marR="0" lvl="0" indent="-152400" algn="just" rtl="0">
              <a:lnSpc>
                <a:spcPct val="100000"/>
              </a:lnSpc>
              <a:spcBef>
                <a:spcPts val="600"/>
              </a:spcBef>
              <a:spcAft>
                <a:spcPts val="0"/>
              </a:spcAft>
              <a:buClr>
                <a:schemeClr val="dk1"/>
              </a:buClr>
              <a:buSzPts val="2400"/>
              <a:buFont typeface="Arial"/>
              <a:buChar char="•"/>
            </a:pPr>
            <a:r>
              <a:rPr lang="en-IN" sz="2400" b="0" i="0" u="none" strike="noStrike" cap="none" dirty="0">
                <a:solidFill>
                  <a:schemeClr val="dk1"/>
                </a:solidFill>
                <a:latin typeface="Arial"/>
                <a:ea typeface="Arial"/>
                <a:cs typeface="Arial"/>
                <a:sym typeface="Arial"/>
              </a:rPr>
              <a:t>The </a:t>
            </a:r>
            <a:r>
              <a:rPr lang="en-IN" sz="2400" b="1" i="0" u="none" strike="noStrike" cap="none" dirty="0">
                <a:solidFill>
                  <a:schemeClr val="dk1"/>
                </a:solidFill>
                <a:latin typeface="Arial"/>
                <a:ea typeface="Arial"/>
                <a:cs typeface="Arial"/>
                <a:sym typeface="Arial"/>
              </a:rPr>
              <a:t>AI-powered chatbot</a:t>
            </a:r>
            <a:r>
              <a:rPr lang="en-IN" sz="2400" b="0" i="0" u="none" strike="noStrike" cap="none" dirty="0">
                <a:solidFill>
                  <a:schemeClr val="dk1"/>
                </a:solidFill>
                <a:latin typeface="Arial"/>
                <a:ea typeface="Arial"/>
                <a:cs typeface="Arial"/>
                <a:sym typeface="Arial"/>
              </a:rPr>
              <a:t> helps users get instant answers to college-related queries such as exam schedules, faculty details, and room locations.</a:t>
            </a:r>
          </a:p>
          <a:p>
            <a:pPr marL="457200" marR="0" lvl="0" indent="0" algn="just" rtl="0">
              <a:lnSpc>
                <a:spcPct val="100000"/>
              </a:lnSpc>
              <a:spcBef>
                <a:spcPts val="600"/>
              </a:spcBef>
              <a:spcAft>
                <a:spcPts val="0"/>
              </a:spcAft>
              <a:buNone/>
            </a:pPr>
            <a:endParaRPr lang="en-IN" sz="500" dirty="0">
              <a:latin typeface="Arial"/>
              <a:ea typeface="Arial"/>
              <a:cs typeface="Arial"/>
              <a:sym typeface="Arial"/>
            </a:endParaRPr>
          </a:p>
          <a:p>
            <a:pPr marL="0" marR="0" lvl="0" indent="-152400" algn="just" rtl="0">
              <a:lnSpc>
                <a:spcPct val="100000"/>
              </a:lnSpc>
              <a:spcBef>
                <a:spcPts val="600"/>
              </a:spcBef>
              <a:spcAft>
                <a:spcPts val="0"/>
              </a:spcAft>
              <a:buClr>
                <a:schemeClr val="dk1"/>
              </a:buClr>
              <a:buSzPts val="2400"/>
              <a:buFont typeface="Arial"/>
              <a:buChar char="•"/>
            </a:pPr>
            <a:r>
              <a:rPr lang="en-IN" sz="2400" b="0" i="0" u="none" strike="noStrike" cap="none" dirty="0">
                <a:solidFill>
                  <a:schemeClr val="dk1"/>
                </a:solidFill>
                <a:latin typeface="Arial"/>
                <a:ea typeface="Arial"/>
                <a:cs typeface="Arial"/>
                <a:sym typeface="Arial"/>
              </a:rPr>
              <a:t>With features like </a:t>
            </a:r>
            <a:r>
              <a:rPr lang="en-IN" sz="2400" b="1" i="0" u="none" strike="noStrike" cap="none" dirty="0">
                <a:solidFill>
                  <a:schemeClr val="dk1"/>
                </a:solidFill>
                <a:latin typeface="Arial"/>
                <a:ea typeface="Arial"/>
                <a:cs typeface="Arial"/>
                <a:sym typeface="Arial"/>
              </a:rPr>
              <a:t>role-based access, secure login, and centralized data management</a:t>
            </a:r>
            <a:r>
              <a:rPr lang="en-IN" sz="2400" b="0" i="0" u="none" strike="noStrike" cap="none" dirty="0">
                <a:solidFill>
                  <a:schemeClr val="dk1"/>
                </a:solidFill>
                <a:latin typeface="Arial"/>
                <a:ea typeface="Arial"/>
                <a:cs typeface="Arial"/>
                <a:sym typeface="Arial"/>
              </a:rPr>
              <a:t>, the system ensures better security and organized data handling.</a:t>
            </a:r>
          </a:p>
          <a:p>
            <a:pPr marL="457200" marR="0" lvl="0" indent="0" algn="just" rtl="0">
              <a:lnSpc>
                <a:spcPct val="100000"/>
              </a:lnSpc>
              <a:spcBef>
                <a:spcPts val="600"/>
              </a:spcBef>
              <a:spcAft>
                <a:spcPts val="0"/>
              </a:spcAft>
              <a:buNone/>
            </a:pPr>
            <a:endParaRPr lang="en-IN" sz="500" dirty="0">
              <a:latin typeface="Arial"/>
              <a:ea typeface="Arial"/>
              <a:cs typeface="Arial"/>
              <a:sym typeface="Arial"/>
            </a:endParaRPr>
          </a:p>
          <a:p>
            <a:pPr marL="0" marR="0" lvl="0" indent="-152400" algn="just" rtl="0">
              <a:lnSpc>
                <a:spcPct val="100000"/>
              </a:lnSpc>
              <a:spcBef>
                <a:spcPts val="600"/>
              </a:spcBef>
              <a:spcAft>
                <a:spcPts val="0"/>
              </a:spcAft>
              <a:buClr>
                <a:schemeClr val="dk1"/>
              </a:buClr>
              <a:buSzPts val="2400"/>
              <a:buFont typeface="Arial"/>
              <a:buChar char="•"/>
            </a:pPr>
            <a:r>
              <a:rPr lang="en-IN" sz="2400" b="0" i="0" u="none" strike="noStrike" cap="none" dirty="0">
                <a:solidFill>
                  <a:schemeClr val="dk1"/>
                </a:solidFill>
                <a:latin typeface="Arial"/>
                <a:ea typeface="Arial"/>
                <a:cs typeface="Arial"/>
                <a:sym typeface="Arial"/>
              </a:rPr>
              <a:t>Overall, the proposed system offers a </a:t>
            </a:r>
            <a:r>
              <a:rPr lang="en-IN" sz="2400" b="1" i="0" u="none" strike="noStrike" cap="none" dirty="0">
                <a:solidFill>
                  <a:schemeClr val="dk1"/>
                </a:solidFill>
                <a:latin typeface="Arial"/>
                <a:ea typeface="Arial"/>
                <a:cs typeface="Arial"/>
                <a:sym typeface="Arial"/>
              </a:rPr>
              <a:t>modern, efficient, and intelligent solution for college management</a:t>
            </a:r>
            <a:r>
              <a:rPr lang="en-IN" sz="2400" b="0" i="0" u="none" strike="noStrike" cap="none" dirty="0">
                <a:solidFill>
                  <a:schemeClr val="dk1"/>
                </a:solidFill>
                <a:latin typeface="Arial"/>
                <a:ea typeface="Arial"/>
                <a:cs typeface="Arial"/>
                <a:sym typeface="Arial"/>
              </a:rPr>
              <a:t>.</a:t>
            </a:r>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3"/>
          <p:cNvSpPr txBox="1">
            <a:spLocks noGrp="1"/>
          </p:cNvSpPr>
          <p:nvPr>
            <p:ph type="title"/>
          </p:nvPr>
        </p:nvSpPr>
        <p:spPr>
          <a:xfrm>
            <a:off x="301250" y="262325"/>
            <a:ext cx="11052600" cy="588000"/>
          </a:xfrm>
          <a:prstGeom prst="rect">
            <a:avLst/>
          </a:prstGeom>
          <a:solidFill>
            <a:srgbClr val="C9DAF8"/>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Times New Roman"/>
              <a:buNone/>
            </a:pPr>
            <a:r>
              <a:rPr lang="en-IN" sz="3600" b="1"/>
              <a:t>Future Course of Actions</a:t>
            </a:r>
            <a:endParaRPr sz="3600" b="1">
              <a:solidFill>
                <a:schemeClr val="dk1"/>
              </a:solidFill>
            </a:endParaRPr>
          </a:p>
        </p:txBody>
      </p:sp>
      <p:cxnSp>
        <p:nvCxnSpPr>
          <p:cNvPr id="253" name="Google Shape;253;p13"/>
          <p:cNvCxnSpPr/>
          <p:nvPr/>
        </p:nvCxnSpPr>
        <p:spPr>
          <a:xfrm rot="10800000" flipH="1">
            <a:off x="301250" y="814304"/>
            <a:ext cx="11052600" cy="36000"/>
          </a:xfrm>
          <a:prstGeom prst="straightConnector1">
            <a:avLst/>
          </a:prstGeom>
          <a:noFill/>
          <a:ln w="28575" cap="flat" cmpd="sng">
            <a:solidFill>
              <a:srgbClr val="222A35"/>
            </a:solidFill>
            <a:prstDash val="solid"/>
            <a:miter lim="800000"/>
            <a:headEnd type="none" w="sm" len="sm"/>
            <a:tailEnd type="none" w="sm" len="sm"/>
          </a:ln>
        </p:spPr>
      </p:cxnSp>
      <p:sp>
        <p:nvSpPr>
          <p:cNvPr id="254" name="Google Shape;25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en-IN" sz="1600" b="1"/>
              <a:t>28</a:t>
            </a:fld>
            <a:endParaRPr sz="1600" b="1"/>
          </a:p>
        </p:txBody>
      </p:sp>
      <p:sp>
        <p:nvSpPr>
          <p:cNvPr id="255" name="Google Shape;255;p13"/>
          <p:cNvSpPr txBox="1">
            <a:spLocks noGrp="1"/>
          </p:cNvSpPr>
          <p:nvPr>
            <p:ph type="body" idx="1"/>
          </p:nvPr>
        </p:nvSpPr>
        <p:spPr>
          <a:xfrm>
            <a:off x="301250" y="1375925"/>
            <a:ext cx="11052600" cy="3495900"/>
          </a:xfrm>
          <a:prstGeom prst="rect">
            <a:avLst/>
          </a:prstGeom>
          <a:noFill/>
          <a:ln>
            <a:noFill/>
          </a:ln>
        </p:spPr>
        <p:txBody>
          <a:bodyPr spcFirstLastPara="1" wrap="square" lIns="91425" tIns="45700" rIns="91425" bIns="45700" anchor="t" anchorCtr="0">
            <a:noAutofit/>
          </a:bodyPr>
          <a:lstStyle/>
          <a:p>
            <a:pPr>
              <a:buFont typeface="Wingdings"/>
              <a:buChar char="Ø"/>
            </a:pPr>
            <a:r>
              <a:rPr lang="en-US" sz="2400" dirty="0">
                <a:solidFill>
                  <a:srgbClr val="0F1115"/>
                </a:solidFill>
                <a:highlight>
                  <a:srgbClr val="FFFFFF"/>
                </a:highlight>
                <a:ea typeface="+mn-lt"/>
                <a:cs typeface="+mn-lt"/>
              </a:rPr>
              <a:t>Integration of company relationship data to capture inter-company stock influences.</a:t>
            </a:r>
            <a:endParaRPr lang="en-US" sz="2400" dirty="0">
              <a:ea typeface="+mn-lt"/>
              <a:cs typeface="+mn-lt"/>
            </a:endParaRPr>
          </a:p>
          <a:p>
            <a:pPr>
              <a:buFont typeface="Wingdings"/>
              <a:buChar char="Ø"/>
            </a:pPr>
            <a:r>
              <a:rPr lang="en-US" sz="2400" dirty="0">
                <a:solidFill>
                  <a:srgbClr val="0F1115"/>
                </a:solidFill>
                <a:highlight>
                  <a:srgbClr val="FFFFFF"/>
                </a:highlight>
                <a:ea typeface="+mn-lt"/>
                <a:cs typeface="+mn-lt"/>
              </a:rPr>
              <a:t>Incorporation of social media platforms like Twitter for richer sentiment analysis.</a:t>
            </a:r>
            <a:endParaRPr lang="en-US" sz="2400" dirty="0">
              <a:ea typeface="+mn-lt"/>
              <a:cs typeface="+mn-lt"/>
            </a:endParaRPr>
          </a:p>
          <a:p>
            <a:pPr>
              <a:buFont typeface="Wingdings"/>
              <a:buChar char="Ø"/>
            </a:pPr>
            <a:r>
              <a:rPr lang="en-US" sz="2400" dirty="0">
                <a:solidFill>
                  <a:srgbClr val="0F1115"/>
                </a:solidFill>
                <a:highlight>
                  <a:srgbClr val="FFFFFF"/>
                </a:highlight>
                <a:ea typeface="+mn-lt"/>
                <a:cs typeface="+mn-lt"/>
              </a:rPr>
              <a:t>Testing during high volatility periods like the COVID-19 pandemic.</a:t>
            </a:r>
            <a:endParaRPr lang="en-US" sz="2400" dirty="0">
              <a:ea typeface="+mn-lt"/>
              <a:cs typeface="+mn-lt"/>
            </a:endParaRPr>
          </a:p>
          <a:p>
            <a:pPr>
              <a:buFont typeface="Wingdings"/>
              <a:buChar char="Ø"/>
            </a:pPr>
            <a:r>
              <a:rPr lang="en-US" sz="2400" dirty="0">
                <a:solidFill>
                  <a:srgbClr val="0F1115"/>
                </a:solidFill>
                <a:highlight>
                  <a:srgbClr val="FFFFFF"/>
                </a:highlight>
                <a:ea typeface="+mn-lt"/>
                <a:cs typeface="+mn-lt"/>
              </a:rPr>
              <a:t>Exploration of graph-based models to improve company and information connections.</a:t>
            </a:r>
            <a:endParaRPr lang="en-US" sz="2400" dirty="0">
              <a:ea typeface="+mn-lt"/>
              <a:cs typeface="+mn-lt"/>
            </a:endParaRPr>
          </a:p>
          <a:p>
            <a:pPr marL="114300" indent="0">
              <a:buClrTx/>
              <a:buNone/>
            </a:pPr>
            <a:endParaRPr lang="en-US" sz="2400" dirty="0">
              <a:solidFill>
                <a:srgbClr val="0F1115"/>
              </a:solidFill>
              <a:highlight>
                <a:srgbClr val="FFFFFF"/>
              </a:highlight>
            </a:endParaRPr>
          </a:p>
        </p:txBody>
      </p:sp>
      <p:sp>
        <p:nvSpPr>
          <p:cNvPr id="3" name="Footer Placeholder 1">
            <a:extLst>
              <a:ext uri="{FF2B5EF4-FFF2-40B4-BE49-F238E27FC236}">
                <a16:creationId xmlns:a16="http://schemas.microsoft.com/office/drawing/2014/main" id="{DAD0093F-BD25-77A4-61C9-775071B22E3F}"/>
              </a:ext>
            </a:extLst>
          </p:cNvPr>
          <p:cNvSpPr>
            <a:spLocks noGrp="1"/>
          </p:cNvSpPr>
          <p:nvPr/>
        </p:nvSpPr>
        <p:spPr>
          <a:xfrm>
            <a:off x="2750731" y="6024972"/>
            <a:ext cx="6690538" cy="770701"/>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III </a:t>
            </a:r>
            <a:r>
              <a:rPr lang="en-US" dirty="0" err="1"/>
              <a:t>B.Tech</a:t>
            </a:r>
            <a:r>
              <a:rPr lang="en-US" dirty="0"/>
              <a:t> (CSE-D) Industrial Oriented Mini Project (IOMP) Presentation Review-2,</a:t>
            </a:r>
          </a:p>
          <a:p>
            <a:r>
              <a:rPr lang="en-US" dirty="0"/>
              <a:t> CSE Dept, CVR college of Engineering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12"/>
          <p:cNvSpPr txBox="1">
            <a:spLocks noGrp="1"/>
          </p:cNvSpPr>
          <p:nvPr>
            <p:ph type="body" idx="1"/>
          </p:nvPr>
        </p:nvSpPr>
        <p:spPr>
          <a:xfrm>
            <a:off x="395450" y="1015150"/>
            <a:ext cx="11052600" cy="5706300"/>
          </a:xfrm>
          <a:prstGeom prst="rect">
            <a:avLst/>
          </a:prstGeom>
          <a:noFill/>
          <a:ln>
            <a:noFill/>
          </a:ln>
        </p:spPr>
        <p:txBody>
          <a:bodyPr spcFirstLastPara="1" wrap="square" lIns="91425" tIns="45700" rIns="91425" bIns="45700" anchor="t" anchorCtr="0">
            <a:noAutofit/>
          </a:bodyPr>
          <a:lstStyle/>
          <a:p>
            <a:pPr>
              <a:buNone/>
            </a:pPr>
            <a:r>
              <a:rPr lang="en-US" sz="1000" dirty="0">
                <a:solidFill>
                  <a:srgbClr val="0F1115"/>
                </a:solidFill>
                <a:highlight>
                  <a:srgbClr val="FFFFFF"/>
                </a:highlight>
                <a:latin typeface="Arial"/>
                <a:ea typeface="+mn-lt"/>
                <a:cs typeface="Arial"/>
              </a:rPr>
              <a:t>[1]. Cho, K., Van </a:t>
            </a:r>
            <a:r>
              <a:rPr lang="en-US" sz="1000" dirty="0" err="1">
                <a:solidFill>
                  <a:srgbClr val="0F1115"/>
                </a:solidFill>
                <a:highlight>
                  <a:srgbClr val="FFFFFF"/>
                </a:highlight>
                <a:latin typeface="Arial"/>
                <a:ea typeface="+mn-lt"/>
                <a:cs typeface="Arial"/>
              </a:rPr>
              <a:t>Merriënboer</a:t>
            </a:r>
            <a:r>
              <a:rPr lang="en-US" sz="1000" dirty="0">
                <a:solidFill>
                  <a:srgbClr val="0F1115"/>
                </a:solidFill>
                <a:highlight>
                  <a:srgbClr val="FFFFFF"/>
                </a:highlight>
                <a:latin typeface="Arial"/>
                <a:ea typeface="+mn-lt"/>
                <a:cs typeface="Arial"/>
              </a:rPr>
              <a:t>, B., </a:t>
            </a:r>
            <a:r>
              <a:rPr lang="en-US" sz="1000" dirty="0" err="1">
                <a:solidFill>
                  <a:srgbClr val="0F1115"/>
                </a:solidFill>
                <a:highlight>
                  <a:srgbClr val="FFFFFF"/>
                </a:highlight>
                <a:latin typeface="Arial"/>
                <a:ea typeface="+mn-lt"/>
                <a:cs typeface="Arial"/>
              </a:rPr>
              <a:t>Gulcehre</a:t>
            </a:r>
            <a:r>
              <a:rPr lang="en-US" sz="1000" dirty="0">
                <a:solidFill>
                  <a:srgbClr val="0F1115"/>
                </a:solidFill>
                <a:highlight>
                  <a:srgbClr val="FFFFFF"/>
                </a:highlight>
                <a:latin typeface="Arial"/>
                <a:ea typeface="+mn-lt"/>
                <a:cs typeface="Arial"/>
              </a:rPr>
              <a:t>, C., et al.</a:t>
            </a:r>
            <a:br>
              <a:rPr lang="en-US" sz="1000" dirty="0">
                <a:highlight>
                  <a:srgbClr val="FFFFFF"/>
                </a:highlight>
                <a:latin typeface="Arial"/>
                <a:ea typeface="+mn-lt"/>
                <a:cs typeface="Arial"/>
              </a:rPr>
            </a:br>
            <a:r>
              <a:rPr lang="en-US" sz="1000" dirty="0">
                <a:solidFill>
                  <a:srgbClr val="0F1115"/>
                </a:solidFill>
                <a:highlight>
                  <a:srgbClr val="FFFFFF"/>
                </a:highlight>
                <a:latin typeface="Arial"/>
                <a:ea typeface="+mn-lt"/>
                <a:cs typeface="Arial"/>
              </a:rPr>
              <a:t>Learning Phrase Representations using RNN Encoder–Decoder for Statistical Machine Translation (GRU)</a:t>
            </a:r>
            <a:br>
              <a:rPr lang="en-US" sz="1000" dirty="0">
                <a:highlight>
                  <a:srgbClr val="FFFFFF"/>
                </a:highlight>
                <a:latin typeface="Arial"/>
                <a:ea typeface="+mn-lt"/>
                <a:cs typeface="Arial"/>
              </a:rPr>
            </a:br>
            <a:r>
              <a:rPr lang="en-US" sz="1000" u="sng" dirty="0">
                <a:solidFill>
                  <a:srgbClr val="3964FE"/>
                </a:solidFill>
                <a:highlight>
                  <a:srgbClr val="FFFFFF"/>
                </a:highlight>
                <a:ea typeface="+mn-lt"/>
                <a:cs typeface="+mn-lt"/>
                <a:hlinkClick r:id="rId3"/>
              </a:rPr>
              <a:t>https://arxiv.org/abs/1406.1078</a:t>
            </a:r>
          </a:p>
          <a:p>
            <a:pPr>
              <a:buNone/>
            </a:pPr>
            <a:r>
              <a:rPr lang="en-US" sz="1000" dirty="0">
                <a:solidFill>
                  <a:srgbClr val="0F1115"/>
                </a:solidFill>
                <a:highlight>
                  <a:srgbClr val="FFFFFF"/>
                </a:highlight>
                <a:latin typeface="Arial"/>
                <a:ea typeface="+mn-lt"/>
                <a:cs typeface="Arial"/>
              </a:rPr>
              <a:t>[2]. Devlin, J., Chang, M. W., Lee, K., &amp; Toutanova, K.</a:t>
            </a:r>
            <a:br>
              <a:rPr lang="en-US" sz="1000" dirty="0">
                <a:highlight>
                  <a:srgbClr val="FFFFFF"/>
                </a:highlight>
                <a:latin typeface="Arial"/>
                <a:ea typeface="+mn-lt"/>
                <a:cs typeface="Arial"/>
              </a:rPr>
            </a:br>
            <a:r>
              <a:rPr lang="en-US" sz="1000" dirty="0">
                <a:solidFill>
                  <a:srgbClr val="0F1115"/>
                </a:solidFill>
                <a:highlight>
                  <a:srgbClr val="FFFFFF"/>
                </a:highlight>
                <a:latin typeface="Arial"/>
                <a:ea typeface="+mn-lt"/>
                <a:cs typeface="Arial"/>
              </a:rPr>
              <a:t>BERT: Pre-training of Deep Bidirectional Transformers for Language Understanding</a:t>
            </a:r>
            <a:br>
              <a:rPr lang="en-US" sz="1000" dirty="0">
                <a:highlight>
                  <a:srgbClr val="FFFFFF"/>
                </a:highlight>
                <a:latin typeface="Arial"/>
                <a:ea typeface="+mn-lt"/>
                <a:cs typeface="Arial"/>
              </a:rPr>
            </a:br>
            <a:r>
              <a:rPr lang="en-US" sz="1000" dirty="0">
                <a:solidFill>
                  <a:srgbClr val="3964FE"/>
                </a:solidFill>
                <a:highlight>
                  <a:srgbClr val="FFFFFF"/>
                </a:highlight>
                <a:ea typeface="+mn-lt"/>
                <a:cs typeface="+mn-lt"/>
                <a:hlinkClick r:id="rId4"/>
              </a:rPr>
              <a:t>https://arxiv.org/abs/1810.04805</a:t>
            </a:r>
            <a:endParaRPr lang="en-US" sz="1000" dirty="0">
              <a:solidFill>
                <a:srgbClr val="0F1115"/>
              </a:solidFill>
              <a:highlight>
                <a:srgbClr val="FFFFFF"/>
              </a:highlight>
              <a:latin typeface="Arial"/>
              <a:ea typeface="+mn-lt"/>
              <a:cs typeface="Arial"/>
            </a:endParaRPr>
          </a:p>
          <a:p>
            <a:pPr>
              <a:buNone/>
            </a:pPr>
            <a:r>
              <a:rPr lang="en-US" sz="1000" dirty="0">
                <a:solidFill>
                  <a:srgbClr val="0F1115"/>
                </a:solidFill>
                <a:highlight>
                  <a:srgbClr val="FFFFFF"/>
                </a:highlight>
                <a:latin typeface="Arial"/>
                <a:ea typeface="+mn-lt"/>
                <a:cs typeface="Arial"/>
              </a:rPr>
              <a:t>[3]. Hochreiter, S., &amp; </a:t>
            </a:r>
            <a:r>
              <a:rPr lang="en-US" sz="1000" dirty="0" err="1">
                <a:solidFill>
                  <a:srgbClr val="0F1115"/>
                </a:solidFill>
                <a:highlight>
                  <a:srgbClr val="FFFFFF"/>
                </a:highlight>
                <a:latin typeface="Arial"/>
                <a:ea typeface="+mn-lt"/>
                <a:cs typeface="Arial"/>
              </a:rPr>
              <a:t>Schmidhuber</a:t>
            </a:r>
            <a:r>
              <a:rPr lang="en-US" sz="1000" dirty="0">
                <a:solidFill>
                  <a:srgbClr val="0F1115"/>
                </a:solidFill>
                <a:highlight>
                  <a:srgbClr val="FFFFFF"/>
                </a:highlight>
                <a:latin typeface="Arial"/>
                <a:ea typeface="+mn-lt"/>
                <a:cs typeface="Arial"/>
              </a:rPr>
              <a:t>, J.</a:t>
            </a:r>
            <a:br>
              <a:rPr lang="en-US" sz="1000" dirty="0">
                <a:highlight>
                  <a:srgbClr val="FFFFFF"/>
                </a:highlight>
                <a:latin typeface="Arial"/>
                <a:ea typeface="+mn-lt"/>
                <a:cs typeface="Arial"/>
              </a:rPr>
            </a:br>
            <a:r>
              <a:rPr lang="en-US" sz="1000" dirty="0">
                <a:solidFill>
                  <a:srgbClr val="0F1115"/>
                </a:solidFill>
                <a:highlight>
                  <a:srgbClr val="FFFFFF"/>
                </a:highlight>
                <a:latin typeface="Arial"/>
                <a:ea typeface="+mn-lt"/>
                <a:cs typeface="Arial"/>
              </a:rPr>
              <a:t>Long Short-Term Memory (LSTM)</a:t>
            </a:r>
            <a:br>
              <a:rPr lang="en-US" sz="1000" dirty="0">
                <a:highlight>
                  <a:srgbClr val="FFFFFF"/>
                </a:highlight>
                <a:latin typeface="Arial"/>
                <a:ea typeface="+mn-lt"/>
                <a:cs typeface="Arial"/>
              </a:rPr>
            </a:br>
            <a:r>
              <a:rPr lang="en-US" sz="1000" dirty="0">
                <a:solidFill>
                  <a:srgbClr val="3964FE"/>
                </a:solidFill>
                <a:highlight>
                  <a:srgbClr val="FFFFFF"/>
                </a:highlight>
                <a:ea typeface="+mn-lt"/>
                <a:cs typeface="+mn-lt"/>
                <a:hlinkClick r:id="rId5"/>
              </a:rPr>
              <a:t>https://www.bioinf.jku.at/publications/older/2604.pdf</a:t>
            </a:r>
          </a:p>
          <a:p>
            <a:pPr>
              <a:buNone/>
            </a:pPr>
            <a:r>
              <a:rPr lang="en-US" sz="1000" dirty="0">
                <a:solidFill>
                  <a:srgbClr val="0F1115"/>
                </a:solidFill>
                <a:highlight>
                  <a:srgbClr val="FFFFFF"/>
                </a:highlight>
                <a:latin typeface="Arial"/>
                <a:ea typeface="+mn-lt"/>
                <a:cs typeface="Arial"/>
              </a:rPr>
              <a:t>[4]. Vaswani, A., et al.</a:t>
            </a:r>
            <a:br>
              <a:rPr lang="en-US" sz="1000" dirty="0">
                <a:highlight>
                  <a:srgbClr val="FFFFFF"/>
                </a:highlight>
                <a:latin typeface="Arial"/>
                <a:ea typeface="+mn-lt"/>
                <a:cs typeface="Arial"/>
              </a:rPr>
            </a:br>
            <a:r>
              <a:rPr lang="en-US" sz="1000" dirty="0">
                <a:solidFill>
                  <a:srgbClr val="0F1115"/>
                </a:solidFill>
                <a:highlight>
                  <a:srgbClr val="FFFFFF"/>
                </a:highlight>
                <a:latin typeface="Arial"/>
                <a:ea typeface="+mn-lt"/>
                <a:cs typeface="Arial"/>
              </a:rPr>
              <a:t>Attention Is All You Need (Transformer Model)</a:t>
            </a:r>
            <a:br>
              <a:rPr lang="en-US" sz="1000" dirty="0">
                <a:highlight>
                  <a:srgbClr val="FFFFFF"/>
                </a:highlight>
                <a:latin typeface="Arial"/>
                <a:ea typeface="+mn-lt"/>
                <a:cs typeface="Arial"/>
              </a:rPr>
            </a:br>
            <a:r>
              <a:rPr lang="en-US" sz="1000" dirty="0">
                <a:solidFill>
                  <a:srgbClr val="3964FE"/>
                </a:solidFill>
                <a:highlight>
                  <a:srgbClr val="FFFFFF"/>
                </a:highlight>
                <a:ea typeface="+mn-lt"/>
                <a:cs typeface="+mn-lt"/>
                <a:hlinkClick r:id="rId6"/>
              </a:rPr>
              <a:t>https://arxiv.org/abs/1706.03762</a:t>
            </a:r>
          </a:p>
          <a:p>
            <a:pPr>
              <a:buNone/>
            </a:pPr>
            <a:r>
              <a:rPr lang="en-US" sz="1000" dirty="0">
                <a:solidFill>
                  <a:srgbClr val="0F1115"/>
                </a:solidFill>
                <a:highlight>
                  <a:srgbClr val="FFFFFF"/>
                </a:highlight>
                <a:latin typeface="Arial"/>
                <a:ea typeface="+mn-lt"/>
                <a:cs typeface="Arial"/>
              </a:rPr>
              <a:t>[5]. Xu, Y., &amp; Cohen, S. B.</a:t>
            </a:r>
            <a:br>
              <a:rPr lang="en-US" sz="1000" dirty="0">
                <a:highlight>
                  <a:srgbClr val="FFFFFF"/>
                </a:highlight>
                <a:latin typeface="Arial"/>
                <a:ea typeface="+mn-lt"/>
                <a:cs typeface="Arial"/>
              </a:rPr>
            </a:br>
            <a:r>
              <a:rPr lang="en-US" sz="1000" dirty="0">
                <a:solidFill>
                  <a:srgbClr val="0F1115"/>
                </a:solidFill>
                <a:highlight>
                  <a:srgbClr val="FFFFFF"/>
                </a:highlight>
                <a:latin typeface="Arial"/>
                <a:ea typeface="+mn-lt"/>
                <a:cs typeface="Arial"/>
              </a:rPr>
              <a:t>Stock Movement Prediction from Tweets and Historical Prices (</a:t>
            </a:r>
            <a:r>
              <a:rPr lang="en-US" sz="1000" dirty="0" err="1">
                <a:solidFill>
                  <a:srgbClr val="0F1115"/>
                </a:solidFill>
                <a:highlight>
                  <a:srgbClr val="FFFFFF"/>
                </a:highlight>
                <a:latin typeface="Arial"/>
                <a:ea typeface="+mn-lt"/>
                <a:cs typeface="Arial"/>
              </a:rPr>
              <a:t>StockNet</a:t>
            </a:r>
            <a:r>
              <a:rPr lang="en-US" sz="1000" dirty="0">
                <a:solidFill>
                  <a:srgbClr val="0F1115"/>
                </a:solidFill>
                <a:highlight>
                  <a:srgbClr val="FFFFFF"/>
                </a:highlight>
                <a:latin typeface="Arial"/>
                <a:ea typeface="+mn-lt"/>
                <a:cs typeface="Arial"/>
              </a:rPr>
              <a:t> Dataset)</a:t>
            </a:r>
            <a:br>
              <a:rPr lang="en-US" sz="1000" dirty="0">
                <a:highlight>
                  <a:srgbClr val="FFFFFF"/>
                </a:highlight>
                <a:latin typeface="Arial"/>
                <a:ea typeface="+mn-lt"/>
                <a:cs typeface="Arial"/>
              </a:rPr>
            </a:br>
            <a:r>
              <a:rPr lang="en-US" sz="1000" dirty="0">
                <a:solidFill>
                  <a:srgbClr val="0F1115"/>
                </a:solidFill>
                <a:highlight>
                  <a:srgbClr val="FFFFFF"/>
                </a:highlight>
                <a:latin typeface="Arial"/>
                <a:ea typeface="+mn-lt"/>
                <a:cs typeface="Arial"/>
                <a:hlinkClick r:id="rId7"/>
              </a:rPr>
              <a:t>https://aclanthology.org/P18-1183/</a:t>
            </a:r>
            <a:endParaRPr lang="en-US" sz="1000" dirty="0">
              <a:latin typeface="Arial"/>
              <a:cs typeface="Arial"/>
            </a:endParaRPr>
          </a:p>
          <a:p>
            <a:pPr>
              <a:buNone/>
            </a:pPr>
            <a:r>
              <a:rPr lang="en-US" sz="1000" dirty="0">
                <a:solidFill>
                  <a:srgbClr val="0F1115"/>
                </a:solidFill>
                <a:highlight>
                  <a:srgbClr val="FFFFFF"/>
                </a:highlight>
                <a:latin typeface="Arial"/>
                <a:ea typeface="+mn-lt"/>
                <a:cs typeface="Arial"/>
              </a:rPr>
              <a:t>[6]. Kim, R., So, C. H., Jeong, M., et al.</a:t>
            </a:r>
            <a:br>
              <a:rPr lang="en-US" sz="1000" dirty="0">
                <a:highlight>
                  <a:srgbClr val="FFFFFF"/>
                </a:highlight>
                <a:latin typeface="Arial"/>
                <a:ea typeface="+mn-lt"/>
                <a:cs typeface="Arial"/>
              </a:rPr>
            </a:br>
            <a:r>
              <a:rPr lang="en-US" sz="1000" dirty="0">
                <a:solidFill>
                  <a:srgbClr val="0F1115"/>
                </a:solidFill>
                <a:highlight>
                  <a:srgbClr val="FFFFFF"/>
                </a:highlight>
                <a:latin typeface="Arial"/>
                <a:ea typeface="+mn-lt"/>
                <a:cs typeface="Arial"/>
              </a:rPr>
              <a:t>HATS: A Hierarchical Graph Attention Network for Stock Movement Prediction</a:t>
            </a:r>
            <a:br>
              <a:rPr lang="en-US" sz="1000" dirty="0">
                <a:highlight>
                  <a:srgbClr val="FFFFFF"/>
                </a:highlight>
                <a:latin typeface="Arial"/>
                <a:ea typeface="+mn-lt"/>
                <a:cs typeface="Arial"/>
              </a:rPr>
            </a:br>
            <a:r>
              <a:rPr lang="en-US" sz="1000" dirty="0">
                <a:solidFill>
                  <a:srgbClr val="0F1115"/>
                </a:solidFill>
                <a:highlight>
                  <a:srgbClr val="FFFFFF"/>
                </a:highlight>
                <a:latin typeface="Arial"/>
                <a:ea typeface="+mn-lt"/>
                <a:cs typeface="Arial"/>
                <a:hlinkClick r:id="rId8"/>
              </a:rPr>
              <a:t>https://arxiv.org/abs/1908.07999</a:t>
            </a:r>
            <a:endParaRPr lang="en-US" sz="1000" dirty="0">
              <a:latin typeface="Arial"/>
              <a:cs typeface="Arial"/>
            </a:endParaRPr>
          </a:p>
          <a:p>
            <a:pPr>
              <a:buNone/>
            </a:pPr>
            <a:r>
              <a:rPr lang="en-US" sz="1000" dirty="0">
                <a:solidFill>
                  <a:srgbClr val="0F1115"/>
                </a:solidFill>
                <a:highlight>
                  <a:srgbClr val="FFFFFF"/>
                </a:highlight>
                <a:latin typeface="Arial"/>
                <a:ea typeface="+mn-lt"/>
                <a:cs typeface="Arial"/>
              </a:rPr>
              <a:t>[7]. Pedregosa, F., et al.</a:t>
            </a:r>
            <a:br>
              <a:rPr lang="en-US" sz="1000" dirty="0">
                <a:highlight>
                  <a:srgbClr val="FFFFFF"/>
                </a:highlight>
                <a:latin typeface="Arial"/>
                <a:ea typeface="+mn-lt"/>
                <a:cs typeface="Arial"/>
              </a:rPr>
            </a:br>
            <a:r>
              <a:rPr lang="en-US" sz="1000" dirty="0">
                <a:solidFill>
                  <a:srgbClr val="0F1115"/>
                </a:solidFill>
                <a:highlight>
                  <a:srgbClr val="FFFFFF"/>
                </a:highlight>
                <a:latin typeface="Arial"/>
                <a:ea typeface="+mn-lt"/>
                <a:cs typeface="Arial"/>
              </a:rPr>
              <a:t>Scikit-learn: Machine Learning in Python</a:t>
            </a:r>
            <a:br>
              <a:rPr lang="en-US" sz="1000" dirty="0">
                <a:highlight>
                  <a:srgbClr val="FFFFFF"/>
                </a:highlight>
                <a:latin typeface="Arial"/>
                <a:ea typeface="+mn-lt"/>
                <a:cs typeface="Arial"/>
              </a:rPr>
            </a:br>
            <a:r>
              <a:rPr lang="en-US" sz="1000" dirty="0">
                <a:solidFill>
                  <a:srgbClr val="0F1115"/>
                </a:solidFill>
                <a:highlight>
                  <a:srgbClr val="FFFFFF"/>
                </a:highlight>
                <a:latin typeface="Arial"/>
                <a:ea typeface="+mn-lt"/>
                <a:cs typeface="Arial"/>
                <a:hlinkClick r:id="rId9"/>
              </a:rPr>
              <a:t>https://scikit-learn.org/stable/about.html#citing-scikit-learn</a:t>
            </a:r>
            <a:endParaRPr lang="en-US" sz="1000" dirty="0">
              <a:latin typeface="Arial"/>
              <a:cs typeface="Arial"/>
            </a:endParaRPr>
          </a:p>
          <a:p>
            <a:pPr>
              <a:buNone/>
            </a:pPr>
            <a:r>
              <a:rPr lang="en-US" sz="1000" dirty="0">
                <a:solidFill>
                  <a:srgbClr val="0F1115"/>
                </a:solidFill>
                <a:highlight>
                  <a:srgbClr val="FFFFFF"/>
                </a:highlight>
                <a:latin typeface="Arial"/>
                <a:ea typeface="+mn-lt"/>
                <a:cs typeface="Arial"/>
              </a:rPr>
              <a:t>[8]. </a:t>
            </a:r>
            <a:r>
              <a:rPr lang="en-US" sz="1000" dirty="0" err="1">
                <a:solidFill>
                  <a:srgbClr val="0F1115"/>
                </a:solidFill>
                <a:highlight>
                  <a:srgbClr val="FFFFFF"/>
                </a:highlight>
                <a:latin typeface="Arial"/>
                <a:ea typeface="+mn-lt"/>
                <a:cs typeface="Arial"/>
              </a:rPr>
              <a:t>Paszke</a:t>
            </a:r>
            <a:r>
              <a:rPr lang="en-US" sz="1000" dirty="0">
                <a:solidFill>
                  <a:srgbClr val="0F1115"/>
                </a:solidFill>
                <a:highlight>
                  <a:srgbClr val="FFFFFF"/>
                </a:highlight>
                <a:latin typeface="Arial"/>
                <a:ea typeface="+mn-lt"/>
                <a:cs typeface="Arial"/>
              </a:rPr>
              <a:t>, A., et al.</a:t>
            </a:r>
            <a:br>
              <a:rPr lang="en-US" sz="1000" dirty="0">
                <a:highlight>
                  <a:srgbClr val="FFFFFF"/>
                </a:highlight>
                <a:latin typeface="Arial"/>
                <a:ea typeface="+mn-lt"/>
                <a:cs typeface="Arial"/>
              </a:rPr>
            </a:br>
            <a:r>
              <a:rPr lang="en-US" sz="1000" dirty="0" err="1">
                <a:solidFill>
                  <a:srgbClr val="0F1115"/>
                </a:solidFill>
                <a:highlight>
                  <a:srgbClr val="FFFFFF"/>
                </a:highlight>
                <a:latin typeface="Arial"/>
                <a:ea typeface="+mn-lt"/>
                <a:cs typeface="Arial"/>
              </a:rPr>
              <a:t>PyTorch</a:t>
            </a:r>
            <a:r>
              <a:rPr lang="en-US" sz="1000" dirty="0">
                <a:solidFill>
                  <a:srgbClr val="0F1115"/>
                </a:solidFill>
                <a:highlight>
                  <a:srgbClr val="FFFFFF"/>
                </a:highlight>
                <a:latin typeface="Arial"/>
                <a:ea typeface="+mn-lt"/>
                <a:cs typeface="Arial"/>
              </a:rPr>
              <a:t>: An Imperative Style, High-Performance Deep Learning Library</a:t>
            </a:r>
            <a:br>
              <a:rPr lang="en-US" sz="1000" dirty="0">
                <a:highlight>
                  <a:srgbClr val="FFFFFF"/>
                </a:highlight>
                <a:latin typeface="Arial"/>
                <a:ea typeface="+mn-lt"/>
                <a:cs typeface="Arial"/>
              </a:rPr>
            </a:br>
            <a:r>
              <a:rPr lang="en-US" sz="1000" dirty="0">
                <a:solidFill>
                  <a:srgbClr val="0F1115"/>
                </a:solidFill>
                <a:highlight>
                  <a:srgbClr val="FFFFFF"/>
                </a:highlight>
                <a:latin typeface="Arial"/>
                <a:ea typeface="+mn-lt"/>
                <a:cs typeface="Arial"/>
                <a:hlinkClick r:id="rId10">
                  <a:extLst>
                    <a:ext uri="{A12FA001-AC4F-418D-AE19-62706E023703}">
                      <ahyp:hlinkClr xmlns:ahyp="http://schemas.microsoft.com/office/drawing/2018/hyperlinkcolor" val="tx"/>
                    </a:ext>
                  </a:extLst>
                </a:hlinkClick>
              </a:rPr>
              <a:t>https://pytorch.org</a:t>
            </a:r>
            <a:r>
              <a:rPr lang="en-US" sz="1000" dirty="0">
                <a:solidFill>
                  <a:srgbClr val="0F1115"/>
                </a:solidFill>
                <a:highlight>
                  <a:srgbClr val="FFFFFF"/>
                </a:highlight>
                <a:latin typeface="Arial"/>
                <a:ea typeface="+mn-lt"/>
                <a:cs typeface="Arial"/>
              </a:rPr>
              <a:t> (Cite as: </a:t>
            </a:r>
            <a:r>
              <a:rPr lang="en-US" sz="1000" dirty="0" err="1">
                <a:solidFill>
                  <a:srgbClr val="0F1115"/>
                </a:solidFill>
                <a:highlight>
                  <a:srgbClr val="FFFFFF"/>
                </a:highlight>
                <a:latin typeface="Arial"/>
                <a:ea typeface="+mn-lt"/>
                <a:cs typeface="Arial"/>
              </a:rPr>
              <a:t>Paszke</a:t>
            </a:r>
            <a:r>
              <a:rPr lang="en-US" sz="1000" dirty="0">
                <a:solidFill>
                  <a:srgbClr val="0F1115"/>
                </a:solidFill>
                <a:highlight>
                  <a:srgbClr val="FFFFFF"/>
                </a:highlight>
                <a:latin typeface="Arial"/>
                <a:ea typeface="+mn-lt"/>
                <a:cs typeface="Arial"/>
              </a:rPr>
              <a:t> et al., </a:t>
            </a:r>
            <a:r>
              <a:rPr lang="en-US" sz="1000" dirty="0" err="1">
                <a:solidFill>
                  <a:srgbClr val="0F1115"/>
                </a:solidFill>
                <a:highlight>
                  <a:srgbClr val="FFFFFF"/>
                </a:highlight>
                <a:latin typeface="Arial"/>
                <a:ea typeface="+mn-lt"/>
                <a:cs typeface="Arial"/>
              </a:rPr>
              <a:t>NeurIPS</a:t>
            </a:r>
            <a:r>
              <a:rPr lang="en-US" sz="1000" dirty="0">
                <a:solidFill>
                  <a:srgbClr val="0F1115"/>
                </a:solidFill>
                <a:highlight>
                  <a:srgbClr val="FFFFFF"/>
                </a:highlight>
                <a:latin typeface="Arial"/>
                <a:ea typeface="+mn-lt"/>
                <a:cs typeface="Arial"/>
              </a:rPr>
              <a:t> 2019)</a:t>
            </a:r>
            <a:endParaRPr lang="en-US" sz="1000" dirty="0">
              <a:latin typeface="Arial"/>
              <a:cs typeface="Arial"/>
            </a:endParaRPr>
          </a:p>
          <a:p>
            <a:pPr>
              <a:buNone/>
            </a:pPr>
            <a:r>
              <a:rPr lang="en-US" sz="1000" dirty="0">
                <a:solidFill>
                  <a:srgbClr val="0F1115"/>
                </a:solidFill>
                <a:highlight>
                  <a:srgbClr val="FFFFFF"/>
                </a:highlight>
                <a:latin typeface="Arial"/>
                <a:ea typeface="+mn-lt"/>
                <a:cs typeface="Arial"/>
              </a:rPr>
              <a:t>[9]. </a:t>
            </a:r>
            <a:r>
              <a:rPr lang="en-US" sz="1000" dirty="0" err="1">
                <a:solidFill>
                  <a:srgbClr val="0F1115"/>
                </a:solidFill>
                <a:highlight>
                  <a:srgbClr val="FFFFFF"/>
                </a:highlight>
                <a:latin typeface="Arial"/>
                <a:ea typeface="+mn-lt"/>
                <a:cs typeface="Arial"/>
              </a:rPr>
              <a:t>Yangjia</a:t>
            </a:r>
            <a:r>
              <a:rPr lang="en-US" sz="1000" dirty="0">
                <a:solidFill>
                  <a:srgbClr val="0F1115"/>
                </a:solidFill>
                <a:highlight>
                  <a:srgbClr val="FFFFFF"/>
                </a:highlight>
                <a:latin typeface="Arial"/>
                <a:ea typeface="+mn-lt"/>
                <a:cs typeface="Arial"/>
              </a:rPr>
              <a:t>, Z., Xia, L., </a:t>
            </a:r>
            <a:r>
              <a:rPr lang="en-US" sz="1000" dirty="0" err="1">
                <a:solidFill>
                  <a:srgbClr val="0F1115"/>
                </a:solidFill>
                <a:highlight>
                  <a:srgbClr val="FFFFFF"/>
                </a:highlight>
                <a:latin typeface="Arial"/>
                <a:ea typeface="+mn-lt"/>
                <a:cs typeface="Arial"/>
              </a:rPr>
              <a:t>Junteng</a:t>
            </a:r>
            <a:r>
              <a:rPr lang="en-US" sz="1000" dirty="0">
                <a:solidFill>
                  <a:srgbClr val="0F1115"/>
                </a:solidFill>
                <a:highlight>
                  <a:srgbClr val="FFFFFF"/>
                </a:highlight>
                <a:latin typeface="Arial"/>
                <a:ea typeface="+mn-lt"/>
                <a:cs typeface="Arial"/>
              </a:rPr>
              <a:t>, M., &amp; Yuan, C.</a:t>
            </a:r>
            <a:br>
              <a:rPr lang="en-US" sz="1000" dirty="0">
                <a:highlight>
                  <a:srgbClr val="FFFFFF"/>
                </a:highlight>
                <a:latin typeface="Arial"/>
                <a:ea typeface="+mn-lt"/>
                <a:cs typeface="Arial"/>
              </a:rPr>
            </a:br>
            <a:r>
              <a:rPr lang="en-US" sz="1000" dirty="0">
                <a:solidFill>
                  <a:srgbClr val="0F1115"/>
                </a:solidFill>
                <a:highlight>
                  <a:srgbClr val="FFFFFF"/>
                </a:highlight>
                <a:latin typeface="Arial"/>
                <a:ea typeface="+mn-lt"/>
                <a:cs typeface="Arial"/>
              </a:rPr>
              <a:t>Fundamental Analysis based Neural Network for Stock Movement Prediction</a:t>
            </a:r>
            <a:br>
              <a:rPr lang="en-US" sz="1000" dirty="0">
                <a:highlight>
                  <a:srgbClr val="FFFFFF"/>
                </a:highlight>
                <a:latin typeface="Arial"/>
                <a:ea typeface="+mn-lt"/>
                <a:cs typeface="Arial"/>
              </a:rPr>
            </a:br>
            <a:r>
              <a:rPr lang="en-US" sz="1000" dirty="0">
                <a:solidFill>
                  <a:srgbClr val="0F1115"/>
                </a:solidFill>
                <a:highlight>
                  <a:srgbClr val="FFFFFF"/>
                </a:highlight>
                <a:latin typeface="Arial"/>
                <a:ea typeface="+mn-lt"/>
                <a:cs typeface="Arial"/>
                <a:hlinkClick r:id="rId11"/>
              </a:rPr>
              <a:t>https://aclanthology.org/2022.ccl-1.86/</a:t>
            </a:r>
            <a:endParaRPr lang="en-US" sz="1000" dirty="0">
              <a:latin typeface="Arial"/>
              <a:cs typeface="Arial"/>
            </a:endParaRPr>
          </a:p>
          <a:p>
            <a:pPr>
              <a:buNone/>
            </a:pPr>
            <a:r>
              <a:rPr lang="en-US" sz="1000" dirty="0">
                <a:solidFill>
                  <a:srgbClr val="0F1115"/>
                </a:solidFill>
                <a:highlight>
                  <a:srgbClr val="FFFFFF"/>
                </a:highlight>
                <a:latin typeface="Arial"/>
                <a:ea typeface="+mn-lt"/>
                <a:cs typeface="Arial"/>
              </a:rPr>
              <a:t>[10]. N, S., Indradevi, R., &amp; Gayathri, R.</a:t>
            </a:r>
            <a:br>
              <a:rPr lang="en-US" sz="1000" dirty="0">
                <a:highlight>
                  <a:srgbClr val="FFFFFF"/>
                </a:highlight>
                <a:latin typeface="Arial"/>
                <a:ea typeface="+mn-lt"/>
                <a:cs typeface="Arial"/>
              </a:rPr>
            </a:br>
            <a:r>
              <a:rPr lang="en-US" sz="1000" dirty="0">
                <a:solidFill>
                  <a:srgbClr val="0F1115"/>
                </a:solidFill>
                <a:highlight>
                  <a:srgbClr val="FFFFFF"/>
                </a:highlight>
                <a:latin typeface="Arial"/>
                <a:ea typeface="+mn-lt"/>
                <a:cs typeface="Arial"/>
              </a:rPr>
              <a:t>Enhancing Stock Market Predictions Using Hybrid Deep Learning Models with Sentiment Analysis</a:t>
            </a:r>
            <a:br>
              <a:rPr lang="en-US" sz="1000" dirty="0">
                <a:highlight>
                  <a:srgbClr val="FFFFFF"/>
                </a:highlight>
                <a:latin typeface="Arial"/>
                <a:ea typeface="+mn-lt"/>
                <a:cs typeface="Arial"/>
              </a:rPr>
            </a:br>
            <a:r>
              <a:rPr lang="en-US" sz="1000" dirty="0">
                <a:solidFill>
                  <a:srgbClr val="0F1115"/>
                </a:solidFill>
                <a:highlight>
                  <a:srgbClr val="FFFFFF"/>
                </a:highlight>
                <a:latin typeface="Arial"/>
                <a:ea typeface="+mn-lt"/>
                <a:cs typeface="Arial"/>
                <a:hlinkClick r:id="rId12"/>
              </a:rPr>
              <a:t>https://doi.org/10.31449/inf.v49i33.8079</a:t>
            </a:r>
            <a:endParaRPr lang="en-US" sz="1000" dirty="0">
              <a:latin typeface="Arial"/>
              <a:cs typeface="Arial"/>
            </a:endParaRPr>
          </a:p>
          <a:p>
            <a:pPr marL="0" lvl="0" indent="0">
              <a:lnSpc>
                <a:spcPct val="100000"/>
              </a:lnSpc>
              <a:spcBef>
                <a:spcPct val="0"/>
              </a:spcBef>
              <a:spcAft>
                <a:spcPct val="0"/>
              </a:spcAft>
              <a:buNone/>
            </a:pPr>
            <a:endParaRPr lang="en-US" altLang="en-US" sz="1000" dirty="0">
              <a:latin typeface="Arial" panose="020B0604020202020204" pitchFamily="34" charset="0"/>
              <a:cs typeface="Arial"/>
            </a:endParaRPr>
          </a:p>
        </p:txBody>
      </p:sp>
      <p:sp>
        <p:nvSpPr>
          <p:cNvPr id="261" name="Google Shape;261;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29</a:t>
            </a:fld>
            <a:endParaRPr/>
          </a:p>
        </p:txBody>
      </p:sp>
      <p:cxnSp>
        <p:nvCxnSpPr>
          <p:cNvPr id="262" name="Google Shape;262;p12"/>
          <p:cNvCxnSpPr/>
          <p:nvPr/>
        </p:nvCxnSpPr>
        <p:spPr>
          <a:xfrm rot="10800000" flipH="1">
            <a:off x="395450" y="683154"/>
            <a:ext cx="11052600" cy="36000"/>
          </a:xfrm>
          <a:prstGeom prst="straightConnector1">
            <a:avLst/>
          </a:prstGeom>
          <a:noFill/>
          <a:ln w="28575" cap="flat" cmpd="sng">
            <a:solidFill>
              <a:srgbClr val="222A35"/>
            </a:solidFill>
            <a:prstDash val="solid"/>
            <a:miter lim="800000"/>
            <a:headEnd type="none" w="sm" len="sm"/>
            <a:tailEnd type="none" w="sm" len="sm"/>
          </a:ln>
        </p:spPr>
      </p:cxnSp>
      <p:sp>
        <p:nvSpPr>
          <p:cNvPr id="263" name="Google Shape;263;p12"/>
          <p:cNvSpPr txBox="1">
            <a:spLocks noGrp="1"/>
          </p:cNvSpPr>
          <p:nvPr>
            <p:ph type="title"/>
          </p:nvPr>
        </p:nvSpPr>
        <p:spPr>
          <a:xfrm>
            <a:off x="442550" y="151250"/>
            <a:ext cx="10958400" cy="531900"/>
          </a:xfrm>
          <a:prstGeom prst="rect">
            <a:avLst/>
          </a:prstGeom>
          <a:solidFill>
            <a:srgbClr val="C9DAF8"/>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2800"/>
              <a:buFont typeface="Times New Roman"/>
              <a:buNone/>
            </a:pPr>
            <a:r>
              <a:rPr lang="en-IN" sz="3600" b="1">
                <a:solidFill>
                  <a:schemeClr val="dk1"/>
                </a:solidFill>
              </a:rPr>
              <a:t>References</a:t>
            </a:r>
            <a:endParaRPr sz="36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14"/>
          <p:cNvSpPr txBox="1">
            <a:spLocks noGrp="1"/>
          </p:cNvSpPr>
          <p:nvPr>
            <p:ph type="body" idx="1"/>
          </p:nvPr>
        </p:nvSpPr>
        <p:spPr>
          <a:xfrm>
            <a:off x="838200" y="2410087"/>
            <a:ext cx="10515600" cy="1294647"/>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6600"/>
              <a:buNone/>
            </a:pPr>
            <a:r>
              <a:rPr lang="en-IN" sz="6600" b="1">
                <a:solidFill>
                  <a:srgbClr val="0000FF"/>
                </a:solidFill>
              </a:rPr>
              <a:t>THANK YOU</a:t>
            </a:r>
            <a:endParaRPr sz="6600" b="1">
              <a:solidFill>
                <a:srgbClr val="0000FF"/>
              </a:solidFill>
            </a:endParaRPr>
          </a:p>
        </p:txBody>
      </p:sp>
      <p:sp>
        <p:nvSpPr>
          <p:cNvPr id="269" name="Google Shape;269;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r>
              <a:rPr lang="en-IN">
                <a:solidFill>
                  <a:schemeClr val="lt1"/>
                </a:solidFill>
              </a:rPr>
              <a:t>19</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68">
                                            <p:txEl>
                                              <p:pRg st="0" end="0"/>
                                            </p:txEl>
                                          </p:spTgt>
                                        </p:tgtEl>
                                        <p:attrNameLst>
                                          <p:attrName>style.visibility</p:attrName>
                                        </p:attrNameLst>
                                      </p:cBhvr>
                                      <p:to>
                                        <p:strVal val="visible"/>
                                      </p:to>
                                    </p:set>
                                    <p:anim calcmode="lin" valueType="num">
                                      <p:cBhvr additive="base">
                                        <p:cTn id="7" dur="500"/>
                                        <p:tgtEl>
                                          <p:spTgt spid="268">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529</TotalTime>
  <Words>2751</Words>
  <Application>Microsoft Office PowerPoint</Application>
  <PresentationFormat>Widescreen</PresentationFormat>
  <Paragraphs>293</Paragraphs>
  <Slides>30</Slides>
  <Notes>27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Aparajita</vt:lpstr>
      <vt:lpstr>Arial</vt:lpstr>
      <vt:lpstr>Calibri</vt:lpstr>
      <vt:lpstr>Times New Roman</vt:lpstr>
      <vt:lpstr>Wingdings</vt:lpstr>
      <vt:lpstr>Office Theme</vt:lpstr>
      <vt:lpstr>HYBRID INFORMATION MIXING MODULE FOR STOCK MOVEMENT PREDICTION</vt:lpstr>
      <vt:lpstr>Contents</vt:lpstr>
      <vt:lpstr>Abstract</vt:lpstr>
      <vt:lpstr>Introduction</vt:lpstr>
      <vt:lpstr>Problem Statement</vt:lpstr>
      <vt:lpstr>PowerPoint Presentation</vt:lpstr>
      <vt:lpstr>Literature Review and Objective</vt:lpstr>
      <vt:lpstr>Existing Systems</vt:lpstr>
      <vt:lpstr>Functional And Non-Functional Requirements:</vt:lpstr>
      <vt:lpstr>Hardware &amp; Software Requirements</vt:lpstr>
      <vt:lpstr>Proposed Methodology</vt:lpstr>
      <vt:lpstr>System Architecture </vt:lpstr>
      <vt:lpstr>Use Cases Diagram</vt:lpstr>
      <vt:lpstr>Class Diagram</vt:lpstr>
      <vt:lpstr>Sequence Diagram </vt:lpstr>
      <vt:lpstr>Activity Diagram (Login System)</vt:lpstr>
      <vt:lpstr>Deployment Diagram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Future Course of Actions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 ARYAN</dc:creator>
  <cp:lastModifiedBy>NALUMASU VISHWAS</cp:lastModifiedBy>
  <cp:revision>6</cp:revision>
  <dcterms:created xsi:type="dcterms:W3CDTF">2024-08-02T07:32:03Z</dcterms:created>
  <dcterms:modified xsi:type="dcterms:W3CDTF">2026-03-31T08:15:09Z</dcterms:modified>
</cp:coreProperties>
</file>